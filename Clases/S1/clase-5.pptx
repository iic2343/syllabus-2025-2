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59" r:id="rId1"/>
  </p:sldMasterIdLst>
  <p:notesMasterIdLst>
    <p:notesMasterId r:id="rId43"/>
  </p:notesMasterIdLst>
  <p:sldIdLst>
    <p:sldId id="256" r:id="rId2"/>
    <p:sldId id="300" r:id="rId3"/>
    <p:sldId id="301" r:id="rId4"/>
    <p:sldId id="302" r:id="rId5"/>
    <p:sldId id="492" r:id="rId6"/>
    <p:sldId id="491" r:id="rId7"/>
    <p:sldId id="303" r:id="rId8"/>
    <p:sldId id="494" r:id="rId9"/>
    <p:sldId id="458" r:id="rId10"/>
    <p:sldId id="459" r:id="rId11"/>
    <p:sldId id="462" r:id="rId12"/>
    <p:sldId id="497" r:id="rId13"/>
    <p:sldId id="499" r:id="rId14"/>
    <p:sldId id="498" r:id="rId15"/>
    <p:sldId id="466" r:id="rId16"/>
    <p:sldId id="501" r:id="rId17"/>
    <p:sldId id="467" r:id="rId18"/>
    <p:sldId id="468" r:id="rId19"/>
    <p:sldId id="502" r:id="rId20"/>
    <p:sldId id="503" r:id="rId21"/>
    <p:sldId id="509" r:id="rId22"/>
    <p:sldId id="470" r:id="rId23"/>
    <p:sldId id="471" r:id="rId24"/>
    <p:sldId id="504" r:id="rId25"/>
    <p:sldId id="472" r:id="rId26"/>
    <p:sldId id="474" r:id="rId27"/>
    <p:sldId id="475" r:id="rId28"/>
    <p:sldId id="476" r:id="rId29"/>
    <p:sldId id="483" r:id="rId30"/>
    <p:sldId id="505" r:id="rId31"/>
    <p:sldId id="506" r:id="rId32"/>
    <p:sldId id="495" r:id="rId33"/>
    <p:sldId id="478" r:id="rId34"/>
    <p:sldId id="493" r:id="rId35"/>
    <p:sldId id="479" r:id="rId36"/>
    <p:sldId id="480" r:id="rId37"/>
    <p:sldId id="508" r:id="rId38"/>
    <p:sldId id="482" r:id="rId39"/>
    <p:sldId id="484" r:id="rId40"/>
    <p:sldId id="486" r:id="rId41"/>
    <p:sldId id="50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F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2"/>
    <p:restoredTop sz="92732"/>
  </p:normalViewPr>
  <p:slideViewPr>
    <p:cSldViewPr snapToGrid="0" snapToObjects="1">
      <p:cViewPr varScale="1">
        <p:scale>
          <a:sx n="125" d="100"/>
          <a:sy n="125" d="100"/>
        </p:scale>
        <p:origin x="17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EE9D6-A646-314C-ACCB-7D3857270F4B}" type="datetimeFigureOut">
              <a:t>28-08-25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3E889-7934-EB44-B1C5-409ABD6EF4A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31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03E889-7934-EB44-B1C5-409ABD6EF4A0}" type="slidenum">
              <a:rPr lang="en-CL"/>
              <a:t>38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548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 cap="none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2022-1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Yadran Eterovic S. (</a:t>
            </a:r>
            <a:r>
              <a:rPr lang="en-US" sz="1400">
                <a:latin typeface="Consolas" panose="020B0609020204030204" pitchFamily="49" charset="0"/>
                <a:cs typeface="Consolas" panose="020B0609020204030204" pitchFamily="49" charset="0"/>
              </a:rPr>
              <a:t>yadran@ing.puc.cl</a:t>
            </a:r>
            <a:r>
              <a:rPr lang="en-US"/>
              <a:t>)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5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 anchor="ctr"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367233"/>
          </a:xfr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1200"/>
              </a:spcBef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Bef>
                <a:spcPts val="0"/>
              </a:spcBef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Bef>
                <a:spcPts val="0"/>
              </a:spcBef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Bef>
                <a:spcPts val="0"/>
              </a:spcBef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5CEC5F-5CDF-B34D-BE04-C3EA2AB83D8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9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624111"/>
            <a:ext cx="8915400" cy="5876722"/>
          </a:xfrm>
        </p:spPr>
        <p:txBody>
          <a:bodyPr anchor="ctr"/>
          <a:lstStyle>
            <a:lvl1pPr marL="0" indent="0">
              <a:spcBef>
                <a:spcPts val="1200"/>
              </a:spcBef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Bef>
                <a:spcPts val="600"/>
              </a:spcBef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5CEC5F-5CDF-B34D-BE04-C3EA2AB83D8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48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81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63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785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7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2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5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52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5766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13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9889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7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127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2022-1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Yadran Eterovic S. (yadran@ing.puc.cl)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4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2022-1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Yadran Eterovic S. (yadran@ing.puc.cl)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55CEC5F-5CDF-B34D-BE04-C3EA2AB83D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06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0" r:id="rId1"/>
    <p:sldLayoutId id="2147484461" r:id="rId2"/>
    <p:sldLayoutId id="2147484476" r:id="rId3"/>
    <p:sldLayoutId id="2147484462" r:id="rId4"/>
    <p:sldLayoutId id="2147484463" r:id="rId5"/>
    <p:sldLayoutId id="2147484464" r:id="rId6"/>
    <p:sldLayoutId id="2147484465" r:id="rId7"/>
    <p:sldLayoutId id="2147484466" r:id="rId8"/>
    <p:sldLayoutId id="2147484467" r:id="rId9"/>
    <p:sldLayoutId id="2147484468" r:id="rId10"/>
    <p:sldLayoutId id="2147484469" r:id="rId11"/>
    <p:sldLayoutId id="2147484470" r:id="rId12"/>
    <p:sldLayoutId id="2147484471" r:id="rId13"/>
    <p:sldLayoutId id="2147484472" r:id="rId14"/>
    <p:sldLayoutId id="2147484473" r:id="rId15"/>
    <p:sldLayoutId id="2147484474" r:id="rId16"/>
    <p:sldLayoutId id="2147484475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40E21-7EE2-A346-8619-3BEAA44C59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El procesador</a:t>
            </a:r>
            <a:b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32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continuación</a:t>
            </a:r>
            <a:endParaRPr lang="en-US">
              <a:solidFill>
                <a:srgbClr val="00206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E3D86-397E-B14C-9557-58371028E2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Arquitectura de Computadores – </a:t>
            </a:r>
            <a:r>
              <a:rPr lang="en-US" cap="small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iic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2343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CDB5151-F3F7-6B4F-BBF9-B6EBF5AE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2025-2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0318621-9FDC-3E4C-B558-7B536E60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Yadran Eterovic S. (</a:t>
            </a:r>
            <a:r>
              <a:rPr lang="en-US" sz="14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yadran@uc.cl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1742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5BD20A-5A95-A64C-B10F-634AEC2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2</a:t>
            </a:fld>
            <a:endParaRPr lang="en-US"/>
          </a:p>
        </p:txBody>
      </p:sp>
      <p:pic>
        <p:nvPicPr>
          <p:cNvPr id="4" name="Picture 3" descr="literalesycero.png">
            <a:extLst>
              <a:ext uri="{FF2B5EF4-FFF2-40B4-BE49-F238E27FC236}">
                <a16:creationId xmlns:a16="http://schemas.microsoft.com/office/drawing/2014/main" id="{A9F61ACB-3E67-4440-B626-858D49032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436" y="642938"/>
            <a:ext cx="6743700" cy="598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386273-92A6-B955-CD40-5E63D1F2290B}"/>
              </a:ext>
            </a:extLst>
          </p:cNvPr>
          <p:cNvSpPr txBox="1"/>
          <p:nvPr/>
        </p:nvSpPr>
        <p:spPr>
          <a:xfrm>
            <a:off x="776749" y="2500057"/>
            <a:ext cx="3994877" cy="18578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Por ahora, cada instrucción de nuestro computador básico tiene 16 bits:</a:t>
            </a:r>
          </a:p>
          <a:p>
            <a:pPr marL="342900" indent="-223838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 bits que corresponden a las señales de control</a:t>
            </a:r>
          </a:p>
          <a:p>
            <a:pPr marL="342900" indent="-223838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... y otros 8 bits para el literal</a:t>
            </a:r>
          </a:p>
        </p:txBody>
      </p:sp>
    </p:spTree>
    <p:extLst>
      <p:ext uri="{BB962C8B-B14F-4D97-AF65-F5344CB8AC3E}">
        <p14:creationId xmlns:p14="http://schemas.microsoft.com/office/powerpoint/2010/main" val="395732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7EE1FF-B839-6E46-9089-4BD2CFBF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3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B62E304-421C-444C-9AE7-F8DE63007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955" y="260350"/>
            <a:ext cx="5534025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B59A2E-BDC1-EB4E-89E8-5C574A77C7C3}"/>
                  </a:ext>
                </a:extLst>
              </p:cNvPr>
              <p:cNvSpPr txBox="1"/>
              <p:nvPr/>
            </p:nvSpPr>
            <p:spPr>
              <a:xfrm>
                <a:off x="1700849" y="2491489"/>
                <a:ext cx="4291584" cy="1786122"/>
              </a:xfrm>
              <a:prstGeom prst="roundRect">
                <a:avLst>
                  <a:gd name="adj" fmla="val 9199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2000"/>
                  </a:lnSpc>
                  <a:defRPr/>
                </a:pP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Instrucciones de 16 bits de largo implica que la Instruction Memory debe estar formada por palabras de 16 bits de largo</a:t>
                </a:r>
              </a:p>
              <a:p>
                <a:pPr marL="184150" indent="-184150">
                  <a:lnSpc>
                    <a:spcPct val="112000"/>
                  </a:lnSpc>
                  <a:spcBef>
                    <a:spcPts val="600"/>
                  </a:spcBef>
                  <a:defRPr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  <a:sym typeface="Wingdings" pitchFamily="2" charset="2"/>
                      </a:rPr>
                      <m:t>⟹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  <a:sym typeface="Wingdings" pitchFamily="2" charset="2"/>
                  </a:rPr>
                  <a:t> 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cada palabra de memoria se compone de 16 flip-flops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B59A2E-BDC1-EB4E-89E8-5C574A77C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849" y="2491489"/>
                <a:ext cx="4291584" cy="1786122"/>
              </a:xfrm>
              <a:prstGeom prst="roundRect">
                <a:avLst>
                  <a:gd name="adj" fmla="val 9199"/>
                </a:avLst>
              </a:prstGeom>
              <a:blipFill>
                <a:blip r:embed="rId3"/>
                <a:stretch>
                  <a:fillRect b="-2098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2136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7EE1FF-B839-6E46-9089-4BD2CFBF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4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B62E304-421C-444C-9AE7-F8DE63007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955" y="260350"/>
            <a:ext cx="5534025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B59A2E-BDC1-EB4E-89E8-5C574A77C7C3}"/>
              </a:ext>
            </a:extLst>
          </p:cNvPr>
          <p:cNvSpPr txBox="1"/>
          <p:nvPr/>
        </p:nvSpPr>
        <p:spPr>
          <a:xfrm>
            <a:off x="1311579" y="1802006"/>
            <a:ext cx="4763467" cy="3165087"/>
          </a:xfrm>
          <a:prstGeom prst="roundRect">
            <a:avLst>
              <a:gd name="adj" fmla="val 91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2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Hay 8 señales de control, permitiendo 2</a:t>
            </a:r>
            <a:r>
              <a:rPr lang="en-US" baseline="30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= 256 instrucciones posibles</a:t>
            </a:r>
          </a:p>
          <a:p>
            <a:pPr>
              <a:lnSpc>
                <a:spcPct val="112000"/>
              </a:lnSpc>
              <a:spcBef>
                <a:spcPts val="12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pero sólo tenemos 28 instrucciones distintas</a:t>
            </a:r>
          </a:p>
          <a:p>
            <a:pPr>
              <a:lnSpc>
                <a:spcPct val="112000"/>
              </a:lnSpc>
              <a:spcBef>
                <a:spcPts val="12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¿Cómo podemos ahorrar flip-flops en la me-moria de instrucciones?</a:t>
            </a:r>
          </a:p>
          <a:p>
            <a:pPr>
              <a:lnSpc>
                <a:spcPct val="112000"/>
              </a:lnSpc>
              <a:spcBef>
                <a:spcPts val="12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... o, ¿cómo podemos hacer que el largo de las instrucciones sea independiente del número de señales de control que hay que manejar?</a:t>
            </a:r>
          </a:p>
        </p:txBody>
      </p:sp>
    </p:spTree>
    <p:extLst>
      <p:ext uri="{BB962C8B-B14F-4D97-AF65-F5344CB8AC3E}">
        <p14:creationId xmlns:p14="http://schemas.microsoft.com/office/powerpoint/2010/main" val="1810188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D4F574-742E-5E4C-96EE-DF8FB0F4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5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0C76395-6DE7-8143-A738-251C6BFB7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346" y="344805"/>
            <a:ext cx="5854700" cy="625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E895F3-5DE9-6943-9FCD-EF86048CF9D9}"/>
              </a:ext>
            </a:extLst>
          </p:cNvPr>
          <p:cNvSpPr txBox="1"/>
          <p:nvPr/>
        </p:nvSpPr>
        <p:spPr>
          <a:xfrm>
            <a:off x="766916" y="1538054"/>
            <a:ext cx="4904907" cy="3842849"/>
          </a:xfrm>
          <a:prstGeom prst="roundRect">
            <a:avLst>
              <a:gd name="adj" fmla="val 1189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Codificamos las instrucciones usando </a:t>
            </a:r>
            <a:r>
              <a:rPr lang="en-US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opcodes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Cada </a:t>
            </a:r>
            <a:r>
              <a:rPr lang="en-US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opcode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está asociado de manera única a una instrucción distinta:</a:t>
            </a:r>
          </a:p>
          <a:p>
            <a:pPr marL="358775" indent="-166688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numeramos (en binario) las instrucciones correlativamente</a:t>
            </a:r>
          </a:p>
          <a:p>
            <a:pPr marL="360363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... y usamos estos números como identificadores de las instrucciones</a:t>
            </a:r>
          </a:p>
          <a:p>
            <a:pPr marL="358775" indent="-166688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por ahora, vamos a usar opcodes de 6 bits, desde 000000 hasta 011011</a:t>
            </a:r>
          </a:p>
          <a:p>
            <a:pPr marL="360363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de modo que las instrucciones van a tener 14 bits: opcode + literal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C02EE6-5DA7-18D5-8F4F-F1CC4A3DD007}"/>
              </a:ext>
            </a:extLst>
          </p:cNvPr>
          <p:cNvSpPr/>
          <p:nvPr/>
        </p:nvSpPr>
        <p:spPr>
          <a:xfrm>
            <a:off x="5671823" y="344805"/>
            <a:ext cx="1024879" cy="304800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D86A6F-4140-EA5A-5E3D-887F09505C44}"/>
              </a:ext>
            </a:extLst>
          </p:cNvPr>
          <p:cNvCxnSpPr>
            <a:cxnSpLocks/>
            <a:stCxn id="5" idx="0"/>
            <a:endCxn id="12" idx="2"/>
          </p:cNvCxnSpPr>
          <p:nvPr/>
        </p:nvCxnSpPr>
        <p:spPr>
          <a:xfrm flipV="1">
            <a:off x="3219370" y="497205"/>
            <a:ext cx="2452453" cy="1040849"/>
          </a:xfrm>
          <a:prstGeom prst="straightConnector1">
            <a:avLst/>
          </a:prstGeom>
          <a:ln w="12700">
            <a:solidFill>
              <a:srgbClr val="FF0000"/>
            </a:solidFill>
            <a:prstDash val="lg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770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D4F574-742E-5E4C-96EE-DF8FB0F4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6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0C76395-6DE7-8143-A738-251C6BFB7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346" y="344805"/>
            <a:ext cx="5854700" cy="625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EDFD79-7174-9D62-9D24-955DC1DEE5BF}"/>
              </a:ext>
            </a:extLst>
          </p:cNvPr>
          <p:cNvSpPr txBox="1"/>
          <p:nvPr/>
        </p:nvSpPr>
        <p:spPr>
          <a:xfrm>
            <a:off x="1234912" y="4177236"/>
            <a:ext cx="4710160" cy="25913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P.ej., para ejecutar A=A+6, ahora escribimos la instrucción de 14 bits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0 0 0 1 1  0 </a:t>
            </a:r>
            <a:r>
              <a:rPr lang="en-US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0 0 0 0 0 1 1 0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:</a:t>
            </a:r>
          </a:p>
          <a:p>
            <a:pPr marL="342900" indent="-223838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los 6 bits de la izquierda corresponden al opcode</a:t>
            </a:r>
          </a:p>
          <a:p>
            <a:pPr marL="342900" indent="-223838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los 8 bits de la derecha corresponden al literal 6 (en binario)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8184FA1-0821-7865-4F82-C67326EB2EDA}"/>
              </a:ext>
            </a:extLst>
          </p:cNvPr>
          <p:cNvSpPr/>
          <p:nvPr/>
        </p:nvSpPr>
        <p:spPr>
          <a:xfrm>
            <a:off x="5939346" y="1838036"/>
            <a:ext cx="655418" cy="3048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3DF0EF-1191-9F8F-718E-892CF084560F}"/>
              </a:ext>
            </a:extLst>
          </p:cNvPr>
          <p:cNvSpPr/>
          <p:nvPr/>
        </p:nvSpPr>
        <p:spPr>
          <a:xfrm>
            <a:off x="1366994" y="4895283"/>
            <a:ext cx="1182239" cy="48952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BF01602-9EBB-F708-7EE3-2174FBB52F68}"/>
              </a:ext>
            </a:extLst>
          </p:cNvPr>
          <p:cNvSpPr/>
          <p:nvPr/>
        </p:nvSpPr>
        <p:spPr>
          <a:xfrm>
            <a:off x="10631411" y="1838036"/>
            <a:ext cx="1024879" cy="3048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CCA759F-01E9-E581-9231-13D81253BF70}"/>
              </a:ext>
            </a:extLst>
          </p:cNvPr>
          <p:cNvSpPr/>
          <p:nvPr/>
        </p:nvSpPr>
        <p:spPr>
          <a:xfrm>
            <a:off x="2987688" y="4300592"/>
            <a:ext cx="910056" cy="419193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43587C74-57A9-DE49-945D-6FE594FDA858}"/>
              </a:ext>
            </a:extLst>
          </p:cNvPr>
          <p:cNvCxnSpPr>
            <a:stCxn id="26" idx="0"/>
            <a:endCxn id="25" idx="0"/>
          </p:cNvCxnSpPr>
          <p:nvPr/>
        </p:nvCxnSpPr>
        <p:spPr>
          <a:xfrm rot="5400000" flipH="1" flipV="1">
            <a:off x="6062005" y="-781253"/>
            <a:ext cx="2462556" cy="7701135"/>
          </a:xfrm>
          <a:prstGeom prst="bentConnector3">
            <a:avLst>
              <a:gd name="adj1" fmla="val 165169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857ADDA8-A198-EBFB-0184-4E9890122682}"/>
              </a:ext>
            </a:extLst>
          </p:cNvPr>
          <p:cNvCxnSpPr>
            <a:stCxn id="14" idx="2"/>
            <a:endCxn id="2" idx="2"/>
          </p:cNvCxnSpPr>
          <p:nvPr/>
        </p:nvCxnSpPr>
        <p:spPr>
          <a:xfrm rot="10800000" flipH="1">
            <a:off x="1366994" y="1990436"/>
            <a:ext cx="4572352" cy="3149610"/>
          </a:xfrm>
          <a:prstGeom prst="bentConnector3">
            <a:avLst>
              <a:gd name="adj1" fmla="val -8636"/>
            </a:avLst>
          </a:prstGeom>
          <a:ln w="12700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299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2E7582-6A76-3845-9844-78231046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7</a:t>
            </a:fld>
            <a:endParaRPr lang="en-US"/>
          </a:p>
        </p:txBody>
      </p:sp>
      <p:pic>
        <p:nvPicPr>
          <p:cNvPr id="4" name="Picture 5" descr="unidadControl.png">
            <a:extLst>
              <a:ext uri="{FF2B5EF4-FFF2-40B4-BE49-F238E27FC236}">
                <a16:creationId xmlns:a16="http://schemas.microsoft.com/office/drawing/2014/main" id="{C57ACD69-6B3A-8045-B95B-834BDCC41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743" y="484955"/>
            <a:ext cx="6257925" cy="56324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0FA196-B76E-E645-9634-3579DEB7C74A}"/>
              </a:ext>
            </a:extLst>
          </p:cNvPr>
          <p:cNvSpPr txBox="1"/>
          <p:nvPr/>
        </p:nvSpPr>
        <p:spPr>
          <a:xfrm>
            <a:off x="8900160" y="3721298"/>
            <a:ext cx="3055866" cy="10063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Una </a:t>
            </a:r>
            <a:r>
              <a:rPr lang="en-US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Control Unit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—un circuito digital— traduce los opcodes a las señales de control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8D60D-E76D-8E1E-5AFD-EAB6A6C9AEC0}"/>
              </a:ext>
            </a:extLst>
          </p:cNvPr>
          <p:cNvSpPr txBox="1"/>
          <p:nvPr/>
        </p:nvSpPr>
        <p:spPr>
          <a:xfrm>
            <a:off x="8091948" y="5592036"/>
            <a:ext cx="3864078" cy="10507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Las 8 líneas de salida de la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Control Unit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corresponden a las 8 señales de control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... similarmente al diagrama de la diap.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B967B3-5060-49E8-0CF5-7B9D7397CC06}"/>
              </a:ext>
            </a:extLst>
          </p:cNvPr>
          <p:cNvSpPr txBox="1"/>
          <p:nvPr/>
        </p:nvSpPr>
        <p:spPr>
          <a:xfrm>
            <a:off x="8091948" y="1850560"/>
            <a:ext cx="3864078" cy="10063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Las 6 líneas de entrada de la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Control Unit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corresponden a los 6 bits de los opcodes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9636B6-A5A6-EEED-B6DD-0666A3AEDF51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806813" y="4224481"/>
            <a:ext cx="1093347" cy="0"/>
          </a:xfrm>
          <a:prstGeom prst="straightConnector1">
            <a:avLst/>
          </a:prstGeom>
          <a:ln w="12700">
            <a:solidFill>
              <a:srgbClr val="FF0000"/>
            </a:solidFill>
            <a:prstDash val="lg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F28090-DB8F-3A75-A9F6-D54FE8AC728A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551174" y="2856926"/>
            <a:ext cx="2472813" cy="751513"/>
          </a:xfrm>
          <a:prstGeom prst="straightConnector1">
            <a:avLst/>
          </a:prstGeom>
          <a:ln w="12700">
            <a:solidFill>
              <a:srgbClr val="FF0000"/>
            </a:solidFill>
            <a:prstDash val="lg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063217-60F2-1AC0-12FE-1B3739B91C45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7551174" y="4955458"/>
            <a:ext cx="2472813" cy="636578"/>
          </a:xfrm>
          <a:prstGeom prst="straightConnector1">
            <a:avLst/>
          </a:prstGeom>
          <a:ln w="12700">
            <a:solidFill>
              <a:srgbClr val="FF0000"/>
            </a:solidFill>
            <a:prstDash val="lg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571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2E7582-6A76-3845-9844-78231046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8</a:t>
            </a:fld>
            <a:endParaRPr lang="en-US"/>
          </a:p>
        </p:txBody>
      </p:sp>
      <p:pic>
        <p:nvPicPr>
          <p:cNvPr id="4" name="Picture 5" descr="unidadControl.png">
            <a:extLst>
              <a:ext uri="{FF2B5EF4-FFF2-40B4-BE49-F238E27FC236}">
                <a16:creationId xmlns:a16="http://schemas.microsoft.com/office/drawing/2014/main" id="{C57ACD69-6B3A-8045-B95B-834BDCC41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743" y="484955"/>
            <a:ext cx="6257925" cy="56324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999F22-3B57-D1B3-A02F-91A2C7BA7B81}"/>
              </a:ext>
            </a:extLst>
          </p:cNvPr>
          <p:cNvSpPr txBox="1"/>
          <p:nvPr/>
        </p:nvSpPr>
        <p:spPr>
          <a:xfrm>
            <a:off x="8052818" y="1826221"/>
            <a:ext cx="4011364" cy="32055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 </a:t>
            </a:r>
            <a:r>
              <a:rPr lang="en-US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Control Unit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es un circuito digital que recibe un input de 6 bits (un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opcode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... y produce un output de 8 bits (las señales de control)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El circuito propiamente dicho debe deducirse a partir de la tabla de verdad que se muestra en la diaps. 5 y 6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 sz="14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(a medida que vayamos agregando más funcionali-dad a nuestro computador básico, los </a:t>
            </a:r>
            <a:r>
              <a:rPr lang="en-US" sz="14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opcodes</a:t>
            </a:r>
            <a:r>
              <a:rPr lang="en-US" sz="14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van a tener más bits y va a haber más señales de control)</a:t>
            </a:r>
          </a:p>
        </p:txBody>
      </p:sp>
    </p:spTree>
    <p:extLst>
      <p:ext uri="{BB962C8B-B14F-4D97-AF65-F5344CB8AC3E}">
        <p14:creationId xmlns:p14="http://schemas.microsoft.com/office/powerpoint/2010/main" val="4205602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CC3605-C478-3046-988D-6F7C984A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9</a:t>
            </a:fld>
            <a:endParaRPr lang="en-US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67D83678-45B2-534E-835C-7A0962F2B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1994" y="159327"/>
            <a:ext cx="5228012" cy="653934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1800"/>
              </a:spcBef>
              <a:buClr>
                <a:srgbClr val="FF0000"/>
              </a:buClr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( Independiente del uso de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opcodes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... )</a:t>
            </a:r>
          </a:p>
          <a:p>
            <a:pPr>
              <a:lnSpc>
                <a:spcPct val="125000"/>
              </a:lnSpc>
              <a:spcBef>
                <a:spcPts val="1800"/>
              </a:spcBef>
              <a:buClr>
                <a:srgbClr val="FF0000"/>
              </a:buClr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El lenguaje de máquina es difícil de usar para programar el computador</a:t>
            </a:r>
          </a:p>
          <a:p>
            <a:pPr>
              <a:lnSpc>
                <a:spcPct val="125000"/>
              </a:lnSpc>
              <a:buClr>
                <a:srgbClr val="FF0000"/>
              </a:buClr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... y de leer al hacer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debugging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de un programa</a:t>
            </a:r>
          </a:p>
          <a:p>
            <a:pPr>
              <a:lnSpc>
                <a:spcPct val="125000"/>
              </a:lnSpc>
              <a:spcBef>
                <a:spcPts val="1800"/>
              </a:spcBef>
              <a:buClr>
                <a:srgbClr val="FF0000"/>
              </a:buClr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P.ej., sería más fácil poder escribir</a:t>
            </a:r>
          </a:p>
          <a:p>
            <a:pPr algn="ctr">
              <a:lnSpc>
                <a:spcPct val="125000"/>
              </a:lnSpc>
              <a:spcBef>
                <a:spcPts val="1800"/>
              </a:spcBef>
              <a:buClr>
                <a:srgbClr val="FF0000"/>
              </a:buClr>
            </a:pPr>
            <a:r>
              <a:rPr lang="en-US" altLang="en-US" i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A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i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=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i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A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–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literal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</a:p>
          <a:p>
            <a:pPr>
              <a:lnSpc>
                <a:spcPct val="125000"/>
              </a:lnSpc>
              <a:spcBef>
                <a:spcPts val="1800"/>
              </a:spcBef>
              <a:buClr>
                <a:srgbClr val="FF0000"/>
              </a:buClr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—similarmente a lo que haríamos en un lenguaje de programación moderno—</a:t>
            </a:r>
          </a:p>
          <a:p>
            <a:pPr>
              <a:lnSpc>
                <a:spcPct val="125000"/>
              </a:lnSpc>
              <a:buClr>
                <a:srgbClr val="FF0000"/>
              </a:buClr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... que tener que recordar </a:t>
            </a:r>
            <a:r>
              <a:rPr lang="en-US" altLang="en-US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001001</a:t>
            </a:r>
          </a:p>
        </p:txBody>
      </p:sp>
    </p:spTree>
    <p:extLst>
      <p:ext uri="{BB962C8B-B14F-4D97-AF65-F5344CB8AC3E}">
        <p14:creationId xmlns:p14="http://schemas.microsoft.com/office/powerpoint/2010/main" val="2976795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CC3605-C478-3046-988D-6F7C984A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">
                <a:extLst>
                  <a:ext uri="{FF2B5EF4-FFF2-40B4-BE49-F238E27FC236}">
                    <a16:creationId xmlns:a16="http://schemas.microsoft.com/office/drawing/2014/main" id="{67D83678-45B2-534E-835C-7A0962F2BE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3" y="157018"/>
                <a:ext cx="5787872" cy="6538750"/>
              </a:xfrm>
              <a:solidFill>
                <a:schemeClr val="bg1">
                  <a:lumMod val="95000"/>
                </a:schemeClr>
              </a:solidFill>
            </p:spPr>
            <p:txBody>
              <a:bodyPr>
                <a:normAutofit/>
              </a:bodyPr>
              <a:lstStyle/>
              <a:p>
                <a:pPr>
                  <a:lnSpc>
                    <a:spcPct val="112000"/>
                  </a:lnSpc>
                  <a:spcBef>
                    <a:spcPts val="1800"/>
                  </a:spcBef>
                  <a:buClr>
                    <a:srgbClr val="FF0000"/>
                  </a:buClr>
                  <a:defRPr/>
                </a:pP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El </a:t>
                </a:r>
                <a:r>
                  <a:rPr lang="en-US" b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lenguaje </a:t>
                </a:r>
                <a:r>
                  <a:rPr lang="en-US" b="1" i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assembly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nos ayuda</a:t>
                </a:r>
              </a:p>
              <a:p>
                <a:pPr>
                  <a:lnSpc>
                    <a:spcPct val="112000"/>
                  </a:lnSpc>
                  <a:spcBef>
                    <a:spcPts val="1800"/>
                  </a:spcBef>
                  <a:buClr>
                    <a:srgbClr val="FF0000"/>
                  </a:buClr>
                  <a:defRPr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  <a:sym typeface="Wingdings" pitchFamily="2" charset="2"/>
                      </a:rPr>
                      <m:t>⟹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  <a:sym typeface="Wingdings" pitchFamily="2" charset="2"/>
                  </a:rPr>
                  <a:t> 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versión simbólica del lenguaje de máquina:</a:t>
                </a:r>
              </a:p>
              <a:p>
                <a:pPr lvl="1">
                  <a:lnSpc>
                    <a:spcPct val="112000"/>
                  </a:lnSpc>
                  <a:spcBef>
                    <a:spcPts val="18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cada instrucción tiene un </a:t>
                </a:r>
                <a:r>
                  <a:rPr lang="en-US" b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nombre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y dos </a:t>
                </a:r>
                <a:r>
                  <a:rPr lang="en-US" b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operandos</a:t>
                </a:r>
              </a:p>
              <a:p>
                <a:pPr lvl="1">
                  <a:lnSpc>
                    <a:spcPct val="112000"/>
                  </a:lnSpc>
                  <a:spcBef>
                    <a:spcPts val="18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p.ej., la instrucción en la diap. anterior es una resta (</a:t>
                </a:r>
                <a:r>
                  <a:rPr lang="en-US" b="1">
                    <a:solidFill>
                      <a:srgbClr val="0020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SUB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), cuyos operandos son el (contenido del) registro </a:t>
                </a:r>
                <a:r>
                  <a:rPr lang="en-US" i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(</a:t>
                </a:r>
                <a:r>
                  <a:rPr lang="en-US" b="1">
                    <a:solidFill>
                      <a:srgbClr val="0020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A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 y un literal (</a:t>
                </a:r>
                <a:r>
                  <a:rPr lang="en-US" b="1">
                    <a:solidFill>
                      <a:srgbClr val="0020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Lit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), y cuyo resultado se almacena en el mismo registro </a:t>
                </a:r>
                <a:r>
                  <a:rPr lang="en-US" i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</a:t>
                </a:r>
              </a:p>
              <a:p>
                <a:pPr marL="755650" lvl="1" indent="0">
                  <a:lnSpc>
                    <a:spcPct val="112000"/>
                  </a:lnSpc>
                  <a:spcBef>
                    <a:spcPts val="1800"/>
                  </a:spcBef>
                  <a:buClr>
                    <a:srgbClr val="FF0000"/>
                  </a:buClr>
                  <a:buNone/>
                  <a:defRPr/>
                </a:pP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… y por lo tanto se escribe simbólicamente como </a:t>
                </a:r>
                <a:r>
                  <a:rPr lang="en-US" b="1">
                    <a:solidFill>
                      <a:srgbClr val="0020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SUB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:r>
                  <a:rPr lang="en-US" b="1">
                    <a:solidFill>
                      <a:srgbClr val="00206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A,Lit</a:t>
                </a:r>
              </a:p>
              <a:p>
                <a:pPr>
                  <a:lnSpc>
                    <a:spcPct val="112000"/>
                  </a:lnSpc>
                  <a:spcBef>
                    <a:spcPts val="2400"/>
                  </a:spcBef>
                  <a:buClr>
                    <a:srgbClr val="FF0000"/>
                  </a:buClr>
                  <a:defRPr/>
                </a:pP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Cada instrucción del lenguaje de máquina tiene una única instrucción correspondiente en el lenguaje assembly:</a:t>
                </a:r>
              </a:p>
              <a:p>
                <a:pPr lvl="1">
                  <a:lnSpc>
                    <a:spcPct val="112000"/>
                  </a:lnSpc>
                  <a:spcBef>
                    <a:spcPts val="18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única combinación de nombre de operación y especificación de dos operandos</a:t>
                </a:r>
              </a:p>
            </p:txBody>
          </p:sp>
        </mc:Choice>
        <mc:Fallback xmlns="">
          <p:sp>
            <p:nvSpPr>
              <p:cNvPr id="4" name="Content Placeholder 1">
                <a:extLst>
                  <a:ext uri="{FF2B5EF4-FFF2-40B4-BE49-F238E27FC236}">
                    <a16:creationId xmlns:a16="http://schemas.microsoft.com/office/drawing/2014/main" id="{67D83678-45B2-534E-835C-7A0962F2BE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3" y="157018"/>
                <a:ext cx="5787872" cy="6538750"/>
              </a:xfrm>
              <a:blipFill>
                <a:blip r:embed="rId2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B8701E8-5112-C28D-E7EB-D3CBAD456CA9}"/>
              </a:ext>
            </a:extLst>
          </p:cNvPr>
          <p:cNvSpPr txBox="1"/>
          <p:nvPr/>
        </p:nvSpPr>
        <p:spPr>
          <a:xfrm>
            <a:off x="8495070" y="2414471"/>
            <a:ext cx="3535040" cy="2029057"/>
          </a:xfrm>
          <a:prstGeom prst="roundRect">
            <a:avLst>
              <a:gd name="adj" fmla="val 931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  <a:buClr>
                <a:srgbClr val="FF0000"/>
              </a:buClr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El </a:t>
            </a:r>
            <a:r>
              <a:rPr lang="en-US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lenguaje</a:t>
            </a:r>
            <a:r>
              <a:rPr lang="en-US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assembly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de nuestro computador básico se muestra en las dos primeras columnas de la próx. diap.; p.ej.:</a:t>
            </a:r>
          </a:p>
          <a:p>
            <a:pPr marL="457200" lvl="1" indent="0">
              <a:lnSpc>
                <a:spcPct val="112000"/>
              </a:lnSpc>
              <a:buClr>
                <a:srgbClr val="FF0000"/>
              </a:buClr>
              <a:buNone/>
              <a:defRPr/>
            </a:pPr>
            <a:r>
              <a:rPr lang="en-US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A,B</a:t>
            </a:r>
          </a:p>
          <a:p>
            <a:pPr marL="457200" lvl="1" indent="0">
              <a:lnSpc>
                <a:spcPct val="112000"/>
              </a:lnSpc>
              <a:buClr>
                <a:srgbClr val="FF0000"/>
              </a:buClr>
              <a:buNone/>
              <a:defRPr/>
            </a:pPr>
            <a:r>
              <a:rPr lang="en-US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A,Lit</a:t>
            </a:r>
          </a:p>
        </p:txBody>
      </p:sp>
    </p:spTree>
    <p:extLst>
      <p:ext uri="{BB962C8B-B14F-4D97-AF65-F5344CB8AC3E}">
        <p14:creationId xmlns:p14="http://schemas.microsoft.com/office/powerpoint/2010/main" val="1803710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B6E5C0-1138-974D-B77F-F91AFC99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11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3D98209-59F7-C147-BDA6-A73A3D2E1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675" y="476250"/>
            <a:ext cx="7926387" cy="6153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492B5E-137B-824C-8683-4371E3BE9C88}"/>
              </a:ext>
            </a:extLst>
          </p:cNvPr>
          <p:cNvSpPr/>
          <p:nvPr/>
        </p:nvSpPr>
        <p:spPr>
          <a:xfrm>
            <a:off x="3438236" y="304800"/>
            <a:ext cx="2133600" cy="647700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C2A40-2DF6-85DB-2B36-DF51704BAFE9}"/>
              </a:ext>
            </a:extLst>
          </p:cNvPr>
          <p:cNvSpPr txBox="1"/>
          <p:nvPr/>
        </p:nvSpPr>
        <p:spPr>
          <a:xfrm>
            <a:off x="901216" y="3008033"/>
            <a:ext cx="2735459" cy="84193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2000"/>
              </a:lnSpc>
              <a:spcBef>
                <a:spcPts val="1800"/>
              </a:spcBef>
              <a:buClr>
                <a:srgbClr val="FF0000"/>
              </a:buClr>
              <a:defRPr/>
            </a:pPr>
            <a:r>
              <a:rPr lang="en-US" sz="2000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Lenguaje </a:t>
            </a:r>
            <a:r>
              <a:rPr lang="en-US" sz="2000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assembly</a:t>
            </a:r>
            <a:r>
              <a:rPr lang="en-US" sz="2000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algn="ctr">
              <a:lnSpc>
                <a:spcPct val="112000"/>
              </a:lnSpc>
              <a:buClr>
                <a:srgbClr val="FF0000"/>
              </a:buClr>
              <a:defRPr/>
            </a:pP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 computador básico</a:t>
            </a:r>
            <a:endParaRPr lang="en-CL" sz="2000">
              <a:solidFill>
                <a:srgbClr val="00206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269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7488C3-7B41-C245-A627-649D4964D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2029" y="2451370"/>
            <a:ext cx="5787941" cy="1955259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Este lenguaje (de máquina y su versión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assembly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y el computador básico correspondiente sólo nos permiten escribir y ejecutar programas muy simples: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p.ej., estrictamente secuenciales y sin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D87D70-EE05-B04E-8880-97853F579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0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7488C3-7B41-C245-A627-649D4964D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783" y="1738179"/>
            <a:ext cx="5682433" cy="3381641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Este lenguaje (de máquina y su versión </a:t>
            </a:r>
            <a:r>
              <a:rPr lang="en-US" altLang="en-US" sz="14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assembly</a:t>
            </a: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y el computador básico correspondiente sólo nos permiten escribir y ejecutar programas muy simples:</a:t>
            </a:r>
          </a:p>
          <a:p>
            <a:pPr lvl="1">
              <a:lnSpc>
                <a:spcPct val="125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p.ej., estrictamente secuenciales y sin variables</a:t>
            </a:r>
          </a:p>
          <a:p>
            <a:pPr>
              <a:lnSpc>
                <a:spcPct val="125000"/>
              </a:lnSpc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Ahora vamos a agregar nuevas capacidades a nuestro computador básico (la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Control Unit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se va a volver más compleja, pero no la vamos a describir aquí ):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nuevas componentes y señales de control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nuevas instrucciones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D87D70-EE05-B04E-8880-97853F579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75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7488C3-7B41-C245-A627-649D4964D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959" y="600043"/>
            <a:ext cx="7080082" cy="5657914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Este lenguaje (de máquina y su versión </a:t>
            </a:r>
            <a:r>
              <a:rPr lang="en-US" altLang="en-US" sz="14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assembly</a:t>
            </a: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y el computador básico correspondiente sólo nos permiten escribir y ejecutar programas muy simples:</a:t>
            </a:r>
          </a:p>
          <a:p>
            <a:pPr lvl="1">
              <a:lnSpc>
                <a:spcPct val="125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p.ej., estrictamente secuenciales y sin variables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Ahora vamos a agregar nuevas capacidades a nuestro computador básico (la </a:t>
            </a:r>
            <a:r>
              <a:rPr lang="en-US" altLang="en-US" sz="14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Control Unit</a:t>
            </a: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se va a volver más compleja, pero no la vamos a describir aquí ):</a:t>
            </a:r>
          </a:p>
          <a:p>
            <a:pPr lvl="1">
              <a:lnSpc>
                <a:spcPct val="125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nuevas componentes y señales de control</a:t>
            </a:r>
          </a:p>
          <a:p>
            <a:pPr lvl="1">
              <a:lnSpc>
                <a:spcPct val="125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nuevas instrucciones</a:t>
            </a:r>
          </a:p>
          <a:p>
            <a:pPr>
              <a:lnSpc>
                <a:spcPct val="125000"/>
              </a:lnSpc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… fundamentales para que pueda ejecutar programas más “reales”, como los que escribimos en lenguajes de programación modernos: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lectura y escritura de datos —las variables— en una memoria de datos (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Data Memory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), adicional a la memoria de instrucciones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ejecución de instrucciones en orden distinto al estrictamente secuencial —sentencias de tipo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if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y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while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— mediante ”saltos” condicionales e incondicionales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llamado a y retorno desde funciones (subrutinas, métodos) con parámetros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D87D70-EE05-B04E-8880-97853F579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59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AC1C16-9379-2149-B081-17D4C42D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15</a:t>
            </a:fld>
            <a:endParaRPr lang="en-US"/>
          </a:p>
        </p:txBody>
      </p:sp>
      <p:pic>
        <p:nvPicPr>
          <p:cNvPr id="4" name="Picture 1" descr="memoriadatos.png">
            <a:extLst>
              <a:ext uri="{FF2B5EF4-FFF2-40B4-BE49-F238E27FC236}">
                <a16:creationId xmlns:a16="http://schemas.microsoft.com/office/drawing/2014/main" id="{236E9D3E-1556-854A-9CCC-B2484755B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644" y="880373"/>
            <a:ext cx="8736012" cy="585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A3BAB2-6A11-404F-8D5C-9AD31F7D676B}"/>
              </a:ext>
            </a:extLst>
          </p:cNvPr>
          <p:cNvSpPr txBox="1"/>
          <p:nvPr/>
        </p:nvSpPr>
        <p:spPr>
          <a:xfrm>
            <a:off x="1754195" y="323660"/>
            <a:ext cx="5551277" cy="111342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Para tener </a:t>
            </a:r>
            <a:r>
              <a:rPr lang="en-US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variables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en un programa, necesitamos una memoria que podamos leer (usar el valor de la variable), pero también </a:t>
            </a:r>
            <a:r>
              <a:rPr lang="en-US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escribir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(cambiar el valor de la variable)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D453BD2-D14B-0B0D-6E5B-C4E8D0B65A1E}"/>
              </a:ext>
            </a:extLst>
          </p:cNvPr>
          <p:cNvSpPr/>
          <p:nvPr/>
        </p:nvSpPr>
        <p:spPr>
          <a:xfrm>
            <a:off x="10934299" y="3628724"/>
            <a:ext cx="573489" cy="33688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447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AC1C16-9379-2149-B081-17D4C42D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16</a:t>
            </a:fld>
            <a:endParaRPr lang="en-US"/>
          </a:p>
        </p:txBody>
      </p:sp>
      <p:pic>
        <p:nvPicPr>
          <p:cNvPr id="4" name="Picture 1" descr="memoriadatos.png">
            <a:extLst>
              <a:ext uri="{FF2B5EF4-FFF2-40B4-BE49-F238E27FC236}">
                <a16:creationId xmlns:a16="http://schemas.microsoft.com/office/drawing/2014/main" id="{236E9D3E-1556-854A-9CCC-B2484755B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644" y="880373"/>
            <a:ext cx="8736012" cy="585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05659B-B315-B046-AB68-7EB3809207C7}"/>
              </a:ext>
            </a:extLst>
          </p:cNvPr>
          <p:cNvSpPr txBox="1"/>
          <p:nvPr/>
        </p:nvSpPr>
        <p:spPr>
          <a:xfrm>
            <a:off x="1692612" y="210419"/>
            <a:ext cx="5525311" cy="8553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 </a:t>
            </a:r>
            <a:r>
              <a:rPr lang="en-US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Memory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es similar a la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Instruction Memory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pero además de la entrada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Address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tiene otra: </a:t>
            </a:r>
            <a:r>
              <a:rPr lang="en-US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in</a:t>
            </a:r>
            <a:endParaRPr lang="en-US" sz="1600" b="1" i="1">
              <a:solidFill>
                <a:srgbClr val="00206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8DCE1-FCF7-2E49-BBD7-C8D38C09921F}"/>
              </a:ext>
            </a:extLst>
          </p:cNvPr>
          <p:cNvSpPr txBox="1"/>
          <p:nvPr/>
        </p:nvSpPr>
        <p:spPr>
          <a:xfrm>
            <a:off x="9310356" y="6240979"/>
            <a:ext cx="2803487" cy="4086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Nueva señal de control: </a:t>
            </a:r>
            <a:r>
              <a:rPr lang="en-US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D453BD2-D14B-0B0D-6E5B-C4E8D0B65A1E}"/>
              </a:ext>
            </a:extLst>
          </p:cNvPr>
          <p:cNvSpPr/>
          <p:nvPr/>
        </p:nvSpPr>
        <p:spPr>
          <a:xfrm>
            <a:off x="10934299" y="3628724"/>
            <a:ext cx="573489" cy="33688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FE2C75-7271-D181-8DCE-3B858722131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4095345" y="1065760"/>
            <a:ext cx="359923" cy="669954"/>
          </a:xfrm>
          <a:prstGeom prst="straightConnector1">
            <a:avLst/>
          </a:prstGeom>
          <a:ln w="12700">
            <a:solidFill>
              <a:srgbClr val="00B050"/>
            </a:solidFill>
            <a:prstDash val="lg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262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CF5167-8D8F-E34E-BFD5-D350381F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17</a:t>
            </a:fld>
            <a:endParaRPr lang="en-US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0275779A-6CD9-7149-9AB7-25DCF7EDE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636" y="1636295"/>
            <a:ext cx="4575783" cy="4042609"/>
          </a:xfrm>
          <a:prstGeom prst="roundRect">
            <a:avLst>
              <a:gd name="adj" fmla="val 644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>
              <a:lnSpc>
                <a:spcPct val="112000"/>
              </a:lnSpc>
              <a:defRPr/>
            </a:pPr>
            <a:r>
              <a:rPr lang="en-US" altLang="en-US" sz="18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Las instrucciones del programa (el </a:t>
            </a:r>
            <a:r>
              <a:rPr lang="en-US" altLang="en-US" sz="18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CODE</a:t>
            </a:r>
            <a:r>
              <a:rPr lang="en-US" altLang="en-US" sz="18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siguen estando en la </a:t>
            </a:r>
            <a:r>
              <a:rPr lang="en-US" altLang="en-US" sz="1800" b="1" i="1">
                <a:solidFill>
                  <a:srgbClr val="FF000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Instruction Memory</a:t>
            </a:r>
          </a:p>
          <a:p>
            <a:pPr>
              <a:lnSpc>
                <a:spcPct val="112000"/>
              </a:lnSpc>
              <a:spcBef>
                <a:spcPts val="1800"/>
              </a:spcBef>
              <a:defRPr/>
            </a:pPr>
            <a:r>
              <a:rPr lang="en-US" altLang="en-US" sz="18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… pero ahora además tenemos las variables del programa (la </a:t>
            </a:r>
            <a:r>
              <a:rPr lang="en-US" altLang="en-US" sz="18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DATA</a:t>
            </a:r>
            <a:r>
              <a:rPr lang="en-US" altLang="en-US" sz="18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en la </a:t>
            </a:r>
            <a:r>
              <a:rPr lang="en-US" altLang="en-US" sz="1800" b="1" i="1">
                <a:solidFill>
                  <a:srgbClr val="00B05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Data Memory</a:t>
            </a:r>
          </a:p>
          <a:p>
            <a:pPr>
              <a:lnSpc>
                <a:spcPct val="112000"/>
              </a:lnSpc>
              <a:defRPr/>
            </a:pPr>
            <a:r>
              <a:rPr lang="en-US" altLang="en-US" sz="18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Cada variable (su valor, p.ej., </a:t>
            </a:r>
            <a:r>
              <a:rPr lang="en-US" altLang="en-US" sz="1800" b="1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Dato 1</a:t>
            </a:r>
            <a:r>
              <a:rPr lang="en-US" altLang="en-US" sz="18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ocupa una palabra de memoria</a:t>
            </a:r>
          </a:p>
          <a:p>
            <a:pPr>
              <a:lnSpc>
                <a:spcPct val="112000"/>
              </a:lnSpc>
              <a:spcBef>
                <a:spcPts val="1800"/>
              </a:spcBef>
              <a:defRPr/>
            </a:pPr>
            <a:r>
              <a:rPr lang="en-US" altLang="en-US" sz="18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… y la identificamos por un </a:t>
            </a:r>
            <a:r>
              <a:rPr lang="en-US" altLang="en-US" sz="18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label</a:t>
            </a:r>
            <a:r>
              <a:rPr lang="en-US" altLang="en-US" sz="18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(el “nombre” de la variable, p.ej., </a:t>
            </a:r>
            <a:r>
              <a:rPr lang="en-US" altLang="en-US" sz="1800" b="1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var1</a:t>
            </a:r>
            <a:r>
              <a:rPr lang="en-US" altLang="en-US" sz="18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), en vez de su dirección (</a:t>
            </a:r>
            <a:r>
              <a:rPr lang="en-US" altLang="en-US" sz="18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0x01</a:t>
            </a:r>
            <a:r>
              <a:rPr lang="en-US" altLang="en-US" sz="18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404D618-A124-7C49-8D08-B0B3E69EA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220" y="914400"/>
            <a:ext cx="5386388" cy="4876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F294AD9-2E96-7646-AE39-C61085570274}"/>
              </a:ext>
            </a:extLst>
          </p:cNvPr>
          <p:cNvSpPr/>
          <p:nvPr/>
        </p:nvSpPr>
        <p:spPr>
          <a:xfrm>
            <a:off x="7095220" y="3505200"/>
            <a:ext cx="4319588" cy="2743200"/>
          </a:xfrm>
          <a:prstGeom prst="ellipse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A2C2E5-74E4-734C-BCD3-9373D3F7FE41}"/>
              </a:ext>
            </a:extLst>
          </p:cNvPr>
          <p:cNvSpPr/>
          <p:nvPr/>
        </p:nvSpPr>
        <p:spPr>
          <a:xfrm>
            <a:off x="7095220" y="914400"/>
            <a:ext cx="4267200" cy="2743200"/>
          </a:xfrm>
          <a:prstGeom prst="ellipse">
            <a:avLst/>
          </a:prstGeom>
          <a:noFill/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61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B2F949-D798-A74E-BEA6-FAC42F63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18</a:t>
            </a:fld>
            <a:endParaRPr lang="en-US"/>
          </a:p>
        </p:txBody>
      </p:sp>
      <p:pic>
        <p:nvPicPr>
          <p:cNvPr id="4" name="Picture 1" descr="memoriadatos.png">
            <a:extLst>
              <a:ext uri="{FF2B5EF4-FFF2-40B4-BE49-F238E27FC236}">
                <a16:creationId xmlns:a16="http://schemas.microsoft.com/office/drawing/2014/main" id="{2463B961-F98B-2344-8567-15E8A0233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75" y="787782"/>
            <a:ext cx="8748713" cy="585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623C73-EE23-2541-BA34-20C7B7AB23DD}"/>
              </a:ext>
            </a:extLst>
          </p:cNvPr>
          <p:cNvSpPr txBox="1"/>
          <p:nvPr/>
        </p:nvSpPr>
        <p:spPr>
          <a:xfrm>
            <a:off x="2135293" y="4161810"/>
            <a:ext cx="3960707" cy="1725721"/>
          </a:xfrm>
          <a:prstGeom prst="roundRect">
            <a:avLst>
              <a:gd name="adj" fmla="val 1328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Los datos de la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Memory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van desde la salida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out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 la entrada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de la ALU 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(a través del </a:t>
            </a:r>
            <a:r>
              <a:rPr lang="en-US" sz="16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Mux B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tal como el registro </a:t>
            </a:r>
            <a:r>
              <a:rPr lang="en-US" sz="16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los literales de las instrucciones y la constante 0)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1FA4A0-ED3E-150D-7B13-0F5FAD19508F}"/>
              </a:ext>
            </a:extLst>
          </p:cNvPr>
          <p:cNvSpPr/>
          <p:nvPr/>
        </p:nvSpPr>
        <p:spPr>
          <a:xfrm>
            <a:off x="10934299" y="3532474"/>
            <a:ext cx="573489" cy="33688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26703DC-B6DC-CB4B-B98A-488546D855D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115647" y="3429000"/>
            <a:ext cx="504991" cy="732810"/>
          </a:xfrm>
          <a:prstGeom prst="straightConnector1">
            <a:avLst/>
          </a:prstGeom>
          <a:ln w="12700">
            <a:solidFill>
              <a:srgbClr val="00B050"/>
            </a:solidFill>
            <a:prstDash val="lg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31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B2F949-D798-A74E-BEA6-FAC42F63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19</a:t>
            </a:fld>
            <a:endParaRPr lang="en-US"/>
          </a:p>
        </p:txBody>
      </p:sp>
      <p:pic>
        <p:nvPicPr>
          <p:cNvPr id="4" name="Picture 1" descr="memoriadatos.png">
            <a:extLst>
              <a:ext uri="{FF2B5EF4-FFF2-40B4-BE49-F238E27FC236}">
                <a16:creationId xmlns:a16="http://schemas.microsoft.com/office/drawing/2014/main" id="{2463B961-F98B-2344-8567-15E8A0233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75" y="787782"/>
            <a:ext cx="8748713" cy="585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6726FA-37E3-4C49-99FA-AEAD0E13E6BE}"/>
              </a:ext>
            </a:extLst>
          </p:cNvPr>
          <p:cNvSpPr txBox="1"/>
          <p:nvPr/>
        </p:nvSpPr>
        <p:spPr>
          <a:xfrm>
            <a:off x="1760296" y="3869358"/>
            <a:ext cx="4718324" cy="1552766"/>
          </a:xfrm>
          <a:prstGeom prst="roundRect">
            <a:avLst>
              <a:gd name="adj" fmla="val 1050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Además, los resultados de la ALU ahora pueden ir a la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Memory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y quedar almacenados allí:</a:t>
            </a:r>
          </a:p>
          <a:p>
            <a:pPr marL="287338" indent="-168275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conectamos la salida </a:t>
            </a:r>
            <a:r>
              <a:rPr lang="en-US" sz="16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Result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 la entrada </a:t>
            </a:r>
            <a:r>
              <a:rPr lang="en-US" sz="16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in</a:t>
            </a:r>
          </a:p>
          <a:p>
            <a:pPr marL="287338" indent="-168275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notar la señal de control </a:t>
            </a:r>
            <a:r>
              <a:rPr lang="en-US" sz="1600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1FA4A0-ED3E-150D-7B13-0F5FAD19508F}"/>
              </a:ext>
            </a:extLst>
          </p:cNvPr>
          <p:cNvSpPr/>
          <p:nvPr/>
        </p:nvSpPr>
        <p:spPr>
          <a:xfrm>
            <a:off x="10934299" y="3532474"/>
            <a:ext cx="573489" cy="33688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DF534EF-7B04-C95A-B6CB-E77066F6B6F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119458" y="5422124"/>
            <a:ext cx="1133477" cy="1144046"/>
          </a:xfrm>
          <a:prstGeom prst="straightConnector1">
            <a:avLst/>
          </a:prstGeom>
          <a:ln w="12700">
            <a:solidFill>
              <a:srgbClr val="00B050"/>
            </a:solidFill>
            <a:prstDash val="lg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F5B4A6-E25C-05FC-01A6-A72A079107F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4119458" y="3112477"/>
            <a:ext cx="900950" cy="756881"/>
          </a:xfrm>
          <a:prstGeom prst="straightConnector1">
            <a:avLst/>
          </a:prstGeom>
          <a:ln w="12700">
            <a:solidFill>
              <a:srgbClr val="00B050"/>
            </a:solidFill>
            <a:prstDash val="lg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2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B6686B-12ED-6C4E-9321-6456A256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20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9F670E-D03D-0446-AA9F-810B34262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69" t="13815" r="17613" b="8147"/>
          <a:stretch>
            <a:fillRect/>
          </a:stretch>
        </p:blipFill>
        <p:spPr bwMode="auto">
          <a:xfrm>
            <a:off x="4452261" y="94456"/>
            <a:ext cx="7591425" cy="666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E1D66-C7F9-7649-A25E-BBD73865A688}"/>
              </a:ext>
            </a:extLst>
          </p:cNvPr>
          <p:cNvSpPr txBox="1"/>
          <p:nvPr/>
        </p:nvSpPr>
        <p:spPr>
          <a:xfrm>
            <a:off x="689837" y="2015735"/>
            <a:ext cx="4384166" cy="2826529"/>
          </a:xfrm>
          <a:prstGeom prst="roundRect">
            <a:avLst>
              <a:gd name="adj" fmla="val 681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Nuestro lenguaje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assembly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va a tener ahora </a:t>
            </a:r>
            <a:r>
              <a:rPr lang="en-US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instrucciones adicionales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Instrucción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+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Operandos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en la primera columna)</a:t>
            </a:r>
          </a:p>
          <a:p>
            <a:pPr>
              <a:lnSpc>
                <a:spcPct val="112000"/>
              </a:lnSpc>
              <a:spcBef>
                <a:spcPts val="12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similares a las que conocemos, pero que </a:t>
            </a:r>
            <a:r>
              <a:rPr lang="en-US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operan sobre celdas de memoria de la </a:t>
            </a:r>
            <a:r>
              <a:rPr lang="en-US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Memory</a:t>
            </a:r>
            <a:endParaRPr lang="en-US">
              <a:solidFill>
                <a:srgbClr val="00206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55600" indent="-173038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 la columna “</a:t>
            </a:r>
            <a:r>
              <a:rPr lang="en-US" sz="16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Operación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” el arreglo </a:t>
            </a:r>
            <a:r>
              <a:rPr lang="en-US" sz="16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representa la </a:t>
            </a:r>
            <a:r>
              <a:rPr lang="en-US" sz="16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Memory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DB893FD-B805-82CF-F6BF-0432A50A066D}"/>
              </a:ext>
            </a:extLst>
          </p:cNvPr>
          <p:cNvSpPr/>
          <p:nvPr/>
        </p:nvSpPr>
        <p:spPr>
          <a:xfrm>
            <a:off x="10520313" y="3007153"/>
            <a:ext cx="499621" cy="30165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11DC483-4DDD-88AB-FB72-7FCAA4C5B4D0}"/>
              </a:ext>
            </a:extLst>
          </p:cNvPr>
          <p:cNvSpPr/>
          <p:nvPr/>
        </p:nvSpPr>
        <p:spPr>
          <a:xfrm>
            <a:off x="7795966" y="3037002"/>
            <a:ext cx="821703" cy="30165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77090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9EB4-FC92-E6FF-68D0-51EE940D5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593DE6-AF4B-1B86-62D3-9BBE2062D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21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044BEAD-F0BC-FCAF-BF4F-D2261B013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69" t="13815" r="17613" b="8147"/>
          <a:stretch>
            <a:fillRect/>
          </a:stretch>
        </p:blipFill>
        <p:spPr bwMode="auto">
          <a:xfrm>
            <a:off x="4452261" y="94456"/>
            <a:ext cx="7591425" cy="666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C2D4C2-0DE2-A400-ACFC-EC4CE4613BBF}"/>
              </a:ext>
            </a:extLst>
          </p:cNvPr>
          <p:cNvSpPr txBox="1"/>
          <p:nvPr/>
        </p:nvSpPr>
        <p:spPr>
          <a:xfrm>
            <a:off x="689837" y="1800815"/>
            <a:ext cx="4384166" cy="3256369"/>
          </a:xfrm>
          <a:prstGeom prst="roundRect">
            <a:avLst>
              <a:gd name="adj" fmla="val 681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12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por lo que nos permiten manejar </a:t>
            </a:r>
            <a:r>
              <a:rPr lang="en-US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varia-bles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en los programas:</a:t>
            </a:r>
          </a:p>
          <a:p>
            <a:pPr marL="355600" indent="-173038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son 32 instrucciones </a:t>
            </a:r>
            <a:r>
              <a:rPr lang="en-US" sz="1600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adicionales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 las 28 que ya teníamos</a:t>
            </a:r>
          </a:p>
          <a:p>
            <a:pPr marL="355600" indent="-173038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tienen </a:t>
            </a:r>
            <a:r>
              <a:rPr lang="en-US" sz="16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opcodes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600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distintos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 los </a:t>
            </a:r>
            <a:r>
              <a:rPr lang="en-US" sz="16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opcodes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de esas 28 instrucciones (que sólo hacen refe-rencia a los registros </a:t>
            </a:r>
            <a:r>
              <a:rPr lang="en-US" sz="16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y </a:t>
            </a:r>
            <a:r>
              <a:rPr lang="en-US" sz="16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pPr marL="355600" indent="-173038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para acomodar estas nuevas instrucciones, y otras que ya vamos a ver, los </a:t>
            </a:r>
            <a:r>
              <a:rPr lang="en-US" sz="16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opcodes</a:t>
            </a:r>
            <a:r>
              <a:rPr lang="en-US" sz="16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tie-nen ahora 7 bits (desde la diap. 15)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D31B381-F50D-E0D2-51A6-AAF70A379F30}"/>
              </a:ext>
            </a:extLst>
          </p:cNvPr>
          <p:cNvSpPr/>
          <p:nvPr/>
        </p:nvSpPr>
        <p:spPr>
          <a:xfrm>
            <a:off x="10520313" y="3007153"/>
            <a:ext cx="499621" cy="30165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1FB23B4-DDBA-24B1-301B-C8DCA1C9306F}"/>
              </a:ext>
            </a:extLst>
          </p:cNvPr>
          <p:cNvSpPr/>
          <p:nvPr/>
        </p:nvSpPr>
        <p:spPr>
          <a:xfrm>
            <a:off x="7795966" y="3037002"/>
            <a:ext cx="821703" cy="30165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84981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6352CF-4A8B-2C43-9A80-B9BF8887E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095" y="1920303"/>
            <a:ext cx="7089810" cy="3017393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Algunas instrucciones hacen referencia explícitamente a la variable —</a:t>
            </a:r>
            <a:r>
              <a:rPr lang="en-US" altLang="en-US" b="1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direccionamiento directo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:</a:t>
            </a:r>
          </a:p>
          <a:p>
            <a:pPr lvl="1">
              <a:lnSpc>
                <a:spcPct val="125000"/>
              </a:lnSpc>
              <a:spcBef>
                <a:spcPts val="12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la variable se especifica como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(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variable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—la instrucción de máquina usa los 8 bits del literal para la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variable</a:t>
            </a:r>
            <a:endParaRPr lang="en-US" altLang="en-US">
              <a:solidFill>
                <a:srgbClr val="002060"/>
              </a:solidFill>
              <a:latin typeface="Calibri Light" panose="020F0302020204030204" pitchFamily="34" charset="0"/>
              <a:ea typeface="ＭＳ Ｐゴシック" panose="020B0600070205080204" pitchFamily="34" charset="-128"/>
              <a:cs typeface="Calibri Light" panose="020F0302020204030204" pitchFamily="34" charset="0"/>
            </a:endParaRPr>
          </a:p>
          <a:p>
            <a:pPr lvl="1">
              <a:lnSpc>
                <a:spcPct val="125000"/>
              </a:lnSpc>
              <a:spcBef>
                <a:spcPts val="12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p.ej.,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MOV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A,(var1)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significa guardar en el registro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el contenido de la dirección de memoria (es decir, el valor) de la variable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var1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3AB4CB-8FB7-874E-96F3-63E45C3BC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87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B45E515-58FD-7F41-9AB0-A6D961A5B4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24798" y="1557490"/>
                <a:ext cx="6142403" cy="3743020"/>
              </a:xfr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/>
              <a:lstStyle/>
              <a:p>
                <a:pPr>
                  <a:lnSpc>
                    <a:spcPct val="125000"/>
                  </a:lnSpc>
                </a:pPr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En cambio, en </a:t>
                </a:r>
                <a:r>
                  <a:rPr lang="en-US" altLang="en-US" b="1" i="1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direccionamiento indirecto</a:t>
                </a:r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, la variable es especificada a través del registro </a:t>
                </a:r>
                <a:r>
                  <a:rPr lang="en-US" altLang="en-US" i="1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B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… </a:t>
                </a:r>
                <a14:m>
                  <m:oMath xmlns:m="http://schemas.openxmlformats.org/officeDocument/2006/math">
                    <m:r>
                      <a:rPr lang="en-US" alt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  <a:sym typeface="Wingdings" pitchFamily="2" charset="2"/>
                      </a:rPr>
                      <m:t>⟹</m:t>
                    </m:r>
                  </m:oMath>
                </a14:m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  <a:sym typeface="Wingdings" pitchFamily="2" charset="2"/>
                  </a:rPr>
                  <a:t> </a:t>
                </a:r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en el registro </a:t>
                </a:r>
                <a:r>
                  <a:rPr lang="en-US" altLang="en-US" i="1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B</a:t>
                </a:r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 está almacenada la </a:t>
                </a:r>
                <a:r>
                  <a:rPr lang="en-US" altLang="en-US" i="1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dirección de memoria</a:t>
                </a:r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 de la variable que nos interesa:</a:t>
                </a:r>
              </a:p>
              <a:p>
                <a:pPr lvl="1">
                  <a:lnSpc>
                    <a:spcPct val="125000"/>
                  </a:lnSpc>
                  <a:spcBef>
                    <a:spcPts val="12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el operando se especifica como </a:t>
                </a:r>
                <a:r>
                  <a:rPr lang="en-US" altLang="en-US" b="1">
                    <a:solidFill>
                      <a:srgbClr val="002060"/>
                    </a:solidFill>
                    <a:latin typeface="Consolas" panose="020B0609020204030204" pitchFamily="49" charset="0"/>
                    <a:ea typeface="ＭＳ Ｐゴシック" panose="020B0600070205080204" pitchFamily="34" charset="-128"/>
                    <a:cs typeface="Consolas" panose="020B0609020204030204" pitchFamily="49" charset="0"/>
                  </a:rPr>
                  <a:t>(B)</a:t>
                </a:r>
              </a:p>
              <a:p>
                <a:pPr lvl="1">
                  <a:lnSpc>
                    <a:spcPct val="125000"/>
                  </a:lnSpc>
                  <a:spcBef>
                    <a:spcPts val="12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p.ej., </a:t>
                </a:r>
                <a:r>
                  <a:rPr lang="en-US" altLang="en-US" b="1">
                    <a:solidFill>
                      <a:srgbClr val="002060"/>
                    </a:solidFill>
                    <a:latin typeface="Consolas" panose="020B0609020204030204" pitchFamily="49" charset="0"/>
                    <a:ea typeface="ＭＳ Ｐゴシック" panose="020B0600070205080204" pitchFamily="34" charset="-128"/>
                    <a:cs typeface="Consolas" panose="020B0609020204030204" pitchFamily="49" charset="0"/>
                  </a:rPr>
                  <a:t>MOV</a:t>
                </a:r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 </a:t>
                </a:r>
                <a:r>
                  <a:rPr lang="en-US" altLang="en-US" b="1">
                    <a:solidFill>
                      <a:srgbClr val="002060"/>
                    </a:solidFill>
                    <a:latin typeface="Consolas" panose="020B0609020204030204" pitchFamily="49" charset="0"/>
                    <a:ea typeface="ＭＳ Ｐゴシック" panose="020B0600070205080204" pitchFamily="34" charset="-128"/>
                    <a:cs typeface="Consolas" panose="020B0609020204030204" pitchFamily="49" charset="0"/>
                  </a:rPr>
                  <a:t>A,(B)</a:t>
                </a:r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 significa guardar en el registro </a:t>
                </a:r>
                <a:r>
                  <a:rPr lang="en-US" altLang="en-US" i="1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A</a:t>
                </a:r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 el contenido de la celda de memoria (de la </a:t>
                </a:r>
                <a:r>
                  <a:rPr lang="en-US" altLang="en-US" i="1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Data Memory</a:t>
                </a:r>
                <a:r>
                  <a:rPr lang="en-US" altLang="en-US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) cuya dirección está almacenada en el registro </a:t>
                </a:r>
                <a:r>
                  <a:rPr lang="en-US" altLang="en-US" i="1">
                    <a:solidFill>
                      <a:srgbClr val="002060"/>
                    </a:solidFill>
                    <a:latin typeface="Calibri Light" panose="020F0302020204030204" pitchFamily="34" charset="0"/>
                    <a:ea typeface="ＭＳ Ｐゴシック" panose="020B0600070205080204" pitchFamily="34" charset="-128"/>
                    <a:cs typeface="Calibri Light" panose="020F0302020204030204" pitchFamily="34" charset="0"/>
                  </a:rPr>
                  <a:t>B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B45E515-58FD-7F41-9AB0-A6D961A5B4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24798" y="1557490"/>
                <a:ext cx="6142403" cy="3743020"/>
              </a:xfrm>
              <a:blipFill>
                <a:blip r:embed="rId2"/>
                <a:stretch>
                  <a:fillRect l="-10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D59B0E-638B-FE46-BB1A-18F41B16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33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6352CF-4A8B-2C43-9A80-B9BF8887E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001" y="295662"/>
            <a:ext cx="4967991" cy="171449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1800"/>
              </a:spcBef>
            </a:pP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Algunas instrucciones hacen referencia explícitamente a la variable —</a:t>
            </a:r>
            <a:r>
              <a:rPr lang="en-US" altLang="en-US" sz="1400" b="1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direccionamiento directo</a:t>
            </a: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:</a:t>
            </a:r>
          </a:p>
          <a:p>
            <a:pPr marL="269875" lvl="1" indent="-144463">
              <a:lnSpc>
                <a:spcPct val="125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la variable se especifica como </a:t>
            </a:r>
            <a:r>
              <a:rPr lang="en-US" altLang="en-US" sz="1200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(</a:t>
            </a: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sz="12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variable </a:t>
            </a:r>
            <a:r>
              <a:rPr lang="en-US" altLang="en-US" sz="1200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)</a:t>
            </a: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—la instrucción de máquina usa los 8 bits del literal para la </a:t>
            </a:r>
            <a:r>
              <a:rPr lang="en-US" altLang="en-US" sz="12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variable</a:t>
            </a: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*</a:t>
            </a:r>
          </a:p>
          <a:p>
            <a:pPr marL="269875" lvl="1" indent="-144463">
              <a:lnSpc>
                <a:spcPct val="125000"/>
              </a:lnSpc>
              <a:spcBef>
                <a:spcPts val="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p.ej., </a:t>
            </a:r>
            <a:r>
              <a:rPr lang="en-US" altLang="en-US" sz="1200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MOV</a:t>
            </a: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A,(var1)</a:t>
            </a: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significa guardar en el registro </a:t>
            </a:r>
            <a:r>
              <a:rPr lang="en-US" altLang="en-US" sz="12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el contenido de la dirección de memoria (es decir, el valor) de la variable </a:t>
            </a:r>
            <a:r>
              <a:rPr lang="en-US" altLang="en-US" sz="1200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var1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3AB4CB-8FB7-874E-96F3-63E45C3BC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24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68D80-FE15-00AB-B450-487A88CCEB43}"/>
              </a:ext>
            </a:extLst>
          </p:cNvPr>
          <p:cNvSpPr txBox="1"/>
          <p:nvPr/>
        </p:nvSpPr>
        <p:spPr>
          <a:xfrm>
            <a:off x="2343274" y="2461830"/>
            <a:ext cx="7505443" cy="2670235"/>
          </a:xfrm>
          <a:prstGeom prst="roundRect">
            <a:avLst>
              <a:gd name="adj" fmla="val 828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en-US" sz="20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*Así, a partir de ahora, el literal tiene tres interpretaciones posibles:</a:t>
            </a:r>
          </a:p>
          <a:p>
            <a:pPr lvl="1" indent="-271463">
              <a:lnSpc>
                <a:spcPct val="125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un número entero entre –128 y +127, en las instrucciones aritméticas</a:t>
            </a:r>
          </a:p>
          <a:p>
            <a:pPr lvl="1" indent="-271463">
              <a:lnSpc>
                <a:spcPct val="125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simplemente un patrón de 8 bits, en las instrucciones lógicas y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shifts</a:t>
            </a:r>
          </a:p>
          <a:p>
            <a:pPr lvl="1" indent="-271463">
              <a:lnSpc>
                <a:spcPct val="125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un número entero sin signo entre 0 y 255, correspondiente a una dirección de memoria (de la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Data Memory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), en las instrucciones que hacen referencia a una variable del programa</a:t>
            </a:r>
          </a:p>
        </p:txBody>
      </p:sp>
    </p:spTree>
    <p:extLst>
      <p:ext uri="{BB962C8B-B14F-4D97-AF65-F5344CB8AC3E}">
        <p14:creationId xmlns:p14="http://schemas.microsoft.com/office/powerpoint/2010/main" val="3219220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BF9666-58D3-7A40-8245-6F88EBF6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25</a:t>
            </a:fld>
            <a:endParaRPr lang="en-US"/>
          </a:p>
        </p:txBody>
      </p:sp>
      <p:pic>
        <p:nvPicPr>
          <p:cNvPr id="4" name="Picture 1" descr="memoriadatosFull.png">
            <a:extLst>
              <a:ext uri="{FF2B5EF4-FFF2-40B4-BE49-F238E27FC236}">
                <a16:creationId xmlns:a16="http://schemas.microsoft.com/office/drawing/2014/main" id="{18E79940-EC26-5D43-845D-724768CEB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115" y="762618"/>
            <a:ext cx="8191500" cy="565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0BFD45-B7EC-4043-9D5C-698458D2CF21}"/>
                  </a:ext>
                </a:extLst>
              </p:cNvPr>
              <p:cNvSpPr txBox="1"/>
              <p:nvPr/>
            </p:nvSpPr>
            <p:spPr>
              <a:xfrm>
                <a:off x="249008" y="4089124"/>
                <a:ext cx="5199685" cy="2606349"/>
              </a:xfrm>
              <a:prstGeom prst="roundRect">
                <a:avLst>
                  <a:gd name="adj" fmla="val 932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2000"/>
                  </a:lnSpc>
                  <a:defRPr/>
                </a:pP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La dirección de la palabra (la variable) de la </a:t>
                </a:r>
                <a:r>
                  <a:rPr lang="en-US" i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Data Memory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que queremos leer (</a:t>
                </a:r>
                <a:r>
                  <a:rPr lang="en-US" i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= 0) o escribir (</a:t>
                </a:r>
                <a:r>
                  <a:rPr lang="en-US" i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W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= 1) se puede especificar de dos maneras:</a:t>
                </a:r>
              </a:p>
              <a:p>
                <a:pPr marL="342900" indent="-160338">
                  <a:lnSpc>
                    <a:spcPct val="112000"/>
                  </a:lnSpc>
                  <a:spcBef>
                    <a:spcPts val="6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 sz="1600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el literal de la instrucción (direccionamiento </a:t>
                </a:r>
                <a:r>
                  <a:rPr lang="en-US" sz="1600" i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directo</a:t>
                </a:r>
                <a:r>
                  <a:rPr lang="en-US" sz="1600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</a:t>
                </a:r>
              </a:p>
              <a:p>
                <a:pPr marL="342900" indent="-160338">
                  <a:lnSpc>
                    <a:spcPct val="112000"/>
                  </a:lnSpc>
                  <a:spcBef>
                    <a:spcPts val="600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en-US" sz="1600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el contenido del registro </a:t>
                </a:r>
                <a:r>
                  <a:rPr lang="en-US" sz="1600" i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B</a:t>
                </a:r>
                <a:r>
                  <a:rPr lang="en-US" sz="1600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(direccionamiento </a:t>
                </a:r>
                <a:r>
                  <a:rPr lang="en-US" sz="1600" i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indirecto</a:t>
                </a:r>
                <a:r>
                  <a:rPr lang="en-US" sz="1600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)</a:t>
                </a:r>
                <a:endParaRPr lang="en-US" sz="1600" i="1">
                  <a:solidFill>
                    <a:srgbClr val="002060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139700" indent="-139700">
                  <a:lnSpc>
                    <a:spcPct val="112000"/>
                  </a:lnSpc>
                  <a:spcBef>
                    <a:spcPts val="1200"/>
                  </a:spcBef>
                  <a:defRPr/>
                </a:pPr>
                <a14:m>
                  <m:oMath xmlns:m="http://schemas.openxmlformats.org/officeDocument/2006/math">
                    <m:r>
                      <a:rPr lang="en-US" alt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  <a:sym typeface="Wingdings" pitchFamily="2" charset="2"/>
                      </a:rPr>
                      <m:t>⟹</m:t>
                    </m:r>
                  </m:oMath>
                </a14:m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  <a:sym typeface="Wingdings" pitchFamily="2" charset="2"/>
                  </a:rPr>
                  <a:t> 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colocamos un multiplexor, </a:t>
                </a:r>
                <a:r>
                  <a:rPr lang="en-US" i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Mux Addess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 antes de la entrada </a:t>
                </a:r>
                <a:r>
                  <a:rPr lang="en-US" i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Address</a:t>
                </a:r>
                <a:r>
                  <a:rPr lang="en-US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de la </a:t>
                </a:r>
                <a:r>
                  <a:rPr lang="en-US" i="1">
                    <a:solidFill>
                      <a:srgbClr val="002060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Data Memory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0BFD45-B7EC-4043-9D5C-698458D2C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08" y="4089124"/>
                <a:ext cx="5199685" cy="2606349"/>
              </a:xfrm>
              <a:prstGeom prst="roundRect">
                <a:avLst>
                  <a:gd name="adj" fmla="val 9323"/>
                </a:avLst>
              </a:prstGeom>
              <a:blipFill>
                <a:blip r:embed="rId3"/>
                <a:stretch>
                  <a:fillRect b="-966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2A0B224-7539-38B2-99C2-D0F651F3C761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5448693" y="1800520"/>
            <a:ext cx="838985" cy="3591779"/>
          </a:xfrm>
          <a:prstGeom prst="straightConnector1">
            <a:avLst/>
          </a:prstGeom>
          <a:ln w="12700">
            <a:solidFill>
              <a:srgbClr val="0070C0"/>
            </a:solidFill>
            <a:prstDash val="lg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587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ACF660-DCA0-0748-8C36-EA19A8BB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26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8874303-EBFD-2AEC-0695-BD2E7A21E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69" t="13815" r="17613" b="8147"/>
          <a:stretch>
            <a:fillRect/>
          </a:stretch>
        </p:blipFill>
        <p:spPr bwMode="auto">
          <a:xfrm>
            <a:off x="4452261" y="94456"/>
            <a:ext cx="7591425" cy="666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7A51C7-8A0C-C140-B8F7-C3C9522C2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06" y="841253"/>
            <a:ext cx="4733726" cy="5307457"/>
          </a:xfrm>
          <a:prstGeom prst="roundRect">
            <a:avLst>
              <a:gd name="adj" fmla="val 370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>
              <a:lnSpc>
                <a:spcPct val="112000"/>
              </a:lnSpc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En las instrucciones con direccionamiento directo uno de los operandos es el nombre de la variable, entre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(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y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—ver columna “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Ejemplo de uso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”</a:t>
            </a:r>
          </a:p>
          <a:p>
            <a:pPr>
              <a:lnSpc>
                <a:spcPct val="112000"/>
              </a:lnSpc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… pero la instrucción correspondiente en lenguaje de máquina usa la dirección de la variable en la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Data Memory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:</a:t>
            </a:r>
          </a:p>
          <a:p>
            <a:pPr marL="358775" lvl="1" indent="-192088">
              <a:lnSpc>
                <a:spcPct val="112000"/>
              </a:lnSpc>
              <a:spcBef>
                <a:spcPts val="105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el arreglo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Mem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—ver columna “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Operación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”—representa el arreglo de celdas de memoria de la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Data Memory</a:t>
            </a:r>
          </a:p>
          <a:p>
            <a:pPr>
              <a:lnSpc>
                <a:spcPct val="112000"/>
              </a:lnSpc>
              <a:spcBef>
                <a:spcPts val="1800"/>
              </a:spcBef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P.ej., la próx. diap. muestra dos versiones de un programa que suma los valores de dos variables, </a:t>
            </a:r>
            <a:r>
              <a:rPr lang="en-US" altLang="en-US" b="1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y </a:t>
            </a:r>
            <a:r>
              <a:rPr lang="en-US" altLang="en-US" b="1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b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675950-D191-C990-7943-D85DE5E5E2D9}"/>
              </a:ext>
            </a:extLst>
          </p:cNvPr>
          <p:cNvSpPr/>
          <p:nvPr/>
        </p:nvSpPr>
        <p:spPr>
          <a:xfrm>
            <a:off x="10520313" y="3007153"/>
            <a:ext cx="499621" cy="30165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EE403C-CBAC-622F-7DCE-4AE8EA90A1E2}"/>
              </a:ext>
            </a:extLst>
          </p:cNvPr>
          <p:cNvSpPr/>
          <p:nvPr/>
        </p:nvSpPr>
        <p:spPr>
          <a:xfrm>
            <a:off x="7795966" y="3037002"/>
            <a:ext cx="821703" cy="30165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42573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53A01C-62E7-654E-98D7-A312EF128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27</a:t>
            </a:fld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9A3A2E4-9D67-DC41-9FB6-B8795F94C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3710" y="1290638"/>
            <a:ext cx="2667000" cy="5274231"/>
          </a:xfrm>
          <a:prstGeom prst="flowChartDocumen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4213" algn="l"/>
              </a:tabLst>
              <a:defRPr sz="32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4213" algn="l"/>
              </a:tabLst>
              <a:defRPr sz="28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421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		17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		54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suma	</a:t>
            </a:r>
            <a:r>
              <a:rPr lang="en-US" altLang="en-US" sz="1800">
                <a:solidFill>
                  <a:srgbClr val="00206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</a:t>
            </a:r>
            <a:r>
              <a:rPr lang="en-US" altLang="en-US" sz="1800" i="1">
                <a:solidFill>
                  <a:srgbClr val="00206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no inicializado</a:t>
            </a:r>
            <a:endParaRPr lang="en-US" altLang="en-US" sz="1800" i="1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CODE_1:</a:t>
            </a:r>
            <a:r>
              <a:rPr lang="en-US" altLang="en-US" sz="1800">
                <a:solidFill>
                  <a:srgbClr val="00206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—</a:t>
            </a:r>
            <a:r>
              <a:rPr lang="en-US" altLang="en-US" sz="1800" i="1">
                <a:solidFill>
                  <a:srgbClr val="00206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versión</a:t>
            </a:r>
            <a:r>
              <a:rPr lang="en-US" altLang="en-US" sz="1800">
                <a:solidFill>
                  <a:srgbClr val="00206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1</a:t>
            </a:r>
            <a:endParaRPr lang="en-US" altLang="en-US" sz="1800" b="1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A,(a)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B,(b)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ADD A,B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(suma),A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CODE_2:</a:t>
            </a:r>
            <a:r>
              <a:rPr lang="en-US" altLang="en-US" sz="1800">
                <a:solidFill>
                  <a:srgbClr val="00206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—</a:t>
            </a:r>
            <a:r>
              <a:rPr lang="en-US" altLang="en-US" sz="1800" i="1">
                <a:solidFill>
                  <a:srgbClr val="00206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versión</a:t>
            </a:r>
            <a:r>
              <a:rPr lang="en-US" altLang="en-US" sz="1800">
                <a:solidFill>
                  <a:srgbClr val="00206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2</a:t>
            </a:r>
            <a:endParaRPr lang="en-US" altLang="en-US" sz="1800" b="1">
              <a:solidFill>
                <a:srgbClr val="0020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A,(a)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B,(b)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ADD (suma)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23552996-34C2-3142-BC9C-92B24205C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309" y="397042"/>
            <a:ext cx="5688457" cy="6063915"/>
          </a:xfrm>
          <a:prstGeom prst="roundRect">
            <a:avLst>
              <a:gd name="adj" fmla="val 4299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>
              <a:lnSpc>
                <a:spcPct val="112000"/>
              </a:lnSpc>
              <a:defRPr/>
            </a:pPr>
            <a:r>
              <a:rPr lang="en-US" altLang="en-US" sz="18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Versión 1:</a:t>
            </a:r>
          </a:p>
          <a:p>
            <a:pPr marL="450850" lvl="1">
              <a:lnSpc>
                <a:spcPct val="112000"/>
              </a:lnSpc>
              <a:spcBef>
                <a:spcPts val="105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los sumandos </a:t>
            </a:r>
            <a:r>
              <a:rPr lang="en-US" altLang="en-US" sz="1600" b="1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y </a:t>
            </a:r>
            <a:r>
              <a:rPr lang="en-US" altLang="en-US" sz="1600" b="1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b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son cargados* en los registros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y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B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desde la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Data Memory</a:t>
            </a:r>
          </a:p>
          <a:p>
            <a:pPr marL="450850" lvl="1">
              <a:lnSpc>
                <a:spcPct val="112000"/>
              </a:lnSpc>
              <a:spcBef>
                <a:spcPts val="105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luego se ejecuta la instrucción </a:t>
            </a:r>
            <a:r>
              <a:rPr lang="en-US" altLang="en-US" sz="1600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ADD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sz="1600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A,B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que suma ambos registros y deja el resultado en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</a:p>
          <a:p>
            <a:pPr marL="450850" lvl="1">
              <a:lnSpc>
                <a:spcPct val="112000"/>
              </a:lnSpc>
              <a:spcBef>
                <a:spcPts val="105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finalmente, el contenido de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es almacenado en la variable </a:t>
            </a:r>
            <a:r>
              <a:rPr lang="en-US" altLang="en-US" sz="1600" b="1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suma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en la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Data Memory</a:t>
            </a:r>
          </a:p>
          <a:p>
            <a:pPr>
              <a:lnSpc>
                <a:spcPct val="112000"/>
              </a:lnSpc>
              <a:spcBef>
                <a:spcPts val="1800"/>
              </a:spcBef>
              <a:defRPr/>
            </a:pPr>
            <a:r>
              <a:rPr lang="en-US" altLang="en-US" sz="18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Versión 2:</a:t>
            </a:r>
          </a:p>
          <a:p>
            <a:pPr marL="450850" lvl="1">
              <a:lnSpc>
                <a:spcPct val="112000"/>
              </a:lnSpc>
              <a:spcBef>
                <a:spcPts val="105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una vez que los sumandos están en los registros, se ejecuta la instrucción </a:t>
            </a:r>
            <a:r>
              <a:rPr lang="en-US" altLang="en-US" sz="1600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ADD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sz="1600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(suma)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que suma ambos registros y almacena directamente el resultado en la variable </a:t>
            </a:r>
            <a:r>
              <a:rPr lang="en-US" altLang="en-US" sz="1600" b="1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suma</a:t>
            </a:r>
          </a:p>
          <a:p>
            <a:pPr>
              <a:lnSpc>
                <a:spcPct val="112000"/>
              </a:lnSpc>
              <a:spcBef>
                <a:spcPts val="3000"/>
              </a:spcBef>
              <a:defRPr/>
            </a:pP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* Cuando un valor se copia de la memoria de datos a un registro, se llama </a:t>
            </a:r>
            <a:r>
              <a:rPr lang="en-US" altLang="en-US" sz="14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cargar</a:t>
            </a: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(</a:t>
            </a:r>
            <a:r>
              <a:rPr lang="en-US" altLang="en-US" sz="14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load</a:t>
            </a: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el registro; y cuando un valor se copia de un registro a la memoria, se llama </a:t>
            </a:r>
            <a:r>
              <a:rPr lang="en-US" altLang="en-US" sz="14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almacenar</a:t>
            </a: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(</a:t>
            </a:r>
            <a:r>
              <a:rPr lang="en-US" altLang="en-US" sz="14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store</a:t>
            </a: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en la variable (dirección de memoria)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E954AA4-D5C6-AACD-0EC6-34FC6C99619B}"/>
              </a:ext>
            </a:extLst>
          </p:cNvPr>
          <p:cNvCxnSpPr>
            <a:cxnSpLocks/>
          </p:cNvCxnSpPr>
          <p:nvPr/>
        </p:nvCxnSpPr>
        <p:spPr>
          <a:xfrm>
            <a:off x="7551174" y="1899920"/>
            <a:ext cx="1684266" cy="731520"/>
          </a:xfrm>
          <a:prstGeom prst="straightConnector1">
            <a:avLst/>
          </a:prstGeom>
          <a:ln w="12700">
            <a:solidFill>
              <a:srgbClr val="FF0000"/>
            </a:solidFill>
            <a:prstDash val="lg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F90FE4-4A2E-9E88-DFBD-520C799D508E}"/>
              </a:ext>
            </a:extLst>
          </p:cNvPr>
          <p:cNvCxnSpPr>
            <a:cxnSpLocks/>
          </p:cNvCxnSpPr>
          <p:nvPr/>
        </p:nvCxnSpPr>
        <p:spPr>
          <a:xfrm>
            <a:off x="7680960" y="3927753"/>
            <a:ext cx="1554480" cy="365760"/>
          </a:xfrm>
          <a:prstGeom prst="straightConnector1">
            <a:avLst/>
          </a:prstGeom>
          <a:ln w="12700">
            <a:solidFill>
              <a:srgbClr val="FF0000"/>
            </a:solidFill>
            <a:prstDash val="lg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576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46DBAB-FB65-4A49-AE2D-0FE725FCA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579" y="1460661"/>
            <a:ext cx="4617881" cy="3956342"/>
          </a:xfrm>
          <a:prstGeom prst="roundRect">
            <a:avLst>
              <a:gd name="adj" fmla="val 994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>
              <a:lnSpc>
                <a:spcPct val="112000"/>
              </a:lnSpc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La “magia” de convertir los nombres de las variables (o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labels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a las direcciones que esas variables ocupan en la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Data Memory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es responsabilidad de los pro-gramas llamados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assembler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y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loader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:</a:t>
            </a:r>
          </a:p>
          <a:p>
            <a:pPr marL="317500" lvl="1" indent="-184150">
              <a:lnSpc>
                <a:spcPct val="112000"/>
              </a:lnSpc>
              <a:spcBef>
                <a:spcPts val="105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p.ej., en la fig., las variables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var0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var1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y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var2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corresponden a las direcciones 0x00, 0x01 y 0x02</a:t>
            </a:r>
          </a:p>
          <a:p>
            <a:pPr marL="314325" lvl="1" indent="0">
              <a:lnSpc>
                <a:spcPct val="112000"/>
              </a:lnSpc>
              <a:spcBef>
                <a:spcPts val="1050"/>
              </a:spcBef>
              <a:buClr>
                <a:srgbClr val="FF0000"/>
              </a:buClr>
              <a:buNone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… los valores de esas variables son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Dato 0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Dato 1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y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Dato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25CA7B-2AB0-7841-B419-7EE662042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28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92F8AD-A91C-A24C-BD6F-499BB0FBE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220" y="914400"/>
            <a:ext cx="5386388" cy="4876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BDB1113-1DB8-CCC1-19BF-3A17AF8FEF78}"/>
              </a:ext>
            </a:extLst>
          </p:cNvPr>
          <p:cNvSpPr/>
          <p:nvPr/>
        </p:nvSpPr>
        <p:spPr>
          <a:xfrm>
            <a:off x="6419654" y="1951348"/>
            <a:ext cx="3657600" cy="367646"/>
          </a:xfrm>
          <a:prstGeom prst="roundRect">
            <a:avLst/>
          </a:prstGeom>
          <a:solidFill>
            <a:srgbClr val="FF0000">
              <a:alpha val="25000"/>
            </a:srgbClr>
          </a:solidFill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72382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BD2A83-95D3-3843-8246-E9D3A271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5D0448-8C74-3D4E-B25A-4B2D2E629BAF}"/>
              </a:ext>
            </a:extLst>
          </p:cNvPr>
          <p:cNvSpPr txBox="1"/>
          <p:nvPr/>
        </p:nvSpPr>
        <p:spPr>
          <a:xfrm>
            <a:off x="2355257" y="2529363"/>
            <a:ext cx="7481485" cy="181893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Aún no podemos escribir programas con instrucciones </a:t>
            </a:r>
            <a:r>
              <a:rPr lang="en-US" sz="20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 </a:t>
            </a:r>
            <a:r>
              <a:rPr lang="en-US" sz="20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lvl="1" indent="-269875">
              <a:lnSpc>
                <a:spcPct val="125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como sabemos (de Python, Java, C, etc.), en ambos casos, el orden de ejecución de las instrucciones no sigue el orden en que están escritas</a:t>
            </a:r>
          </a:p>
          <a:p>
            <a:pPr marL="450850" lvl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sino que depende del resultado de la evaluación de una condición</a:t>
            </a:r>
          </a:p>
        </p:txBody>
      </p:sp>
    </p:spTree>
    <p:extLst>
      <p:ext uri="{BB962C8B-B14F-4D97-AF65-F5344CB8AC3E}">
        <p14:creationId xmlns:p14="http://schemas.microsoft.com/office/powerpoint/2010/main" val="41554210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BD2A83-95D3-3843-8246-E9D3A271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3BAB1-40DC-7D49-8FDA-A9547F323241}"/>
              </a:ext>
            </a:extLst>
          </p:cNvPr>
          <p:cNvSpPr txBox="1"/>
          <p:nvPr/>
        </p:nvSpPr>
        <p:spPr>
          <a:xfrm>
            <a:off x="2614918" y="2732532"/>
            <a:ext cx="6962162" cy="14780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en-US" sz="20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Necesitamos </a:t>
            </a:r>
            <a:r>
              <a:rPr lang="en-US" altLang="en-US" sz="20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1</a:t>
            </a:r>
            <a:r>
              <a:rPr lang="en-US" altLang="en-US" sz="20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instrucciones que comparen dos valores entre sí, y de alguna manera codifiquen el resultado de la comparación:</a:t>
            </a:r>
          </a:p>
          <a:p>
            <a:pPr lvl="1" indent="-269875">
              <a:lnSpc>
                <a:spcPct val="125000"/>
              </a:lnSpc>
              <a:spcBef>
                <a:spcPts val="12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p.ej.,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CMP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A,B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compara los contenidos de los registros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y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1360D4-B66A-6C21-8DD4-74C9E22093C1}"/>
              </a:ext>
            </a:extLst>
          </p:cNvPr>
          <p:cNvSpPr txBox="1"/>
          <p:nvPr/>
        </p:nvSpPr>
        <p:spPr>
          <a:xfrm>
            <a:off x="3521760" y="199454"/>
            <a:ext cx="5148479" cy="9534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Aún no podemos escribir programas con instrucciones </a:t>
            </a:r>
            <a:r>
              <a:rPr lang="en-US" sz="14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14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 </a:t>
            </a:r>
            <a:r>
              <a:rPr lang="en-US" sz="14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14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lvl="1" indent="-269875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como sabemos (de Python, Java, C, etc.), en ambos casos, el orden de ejecución de las instrucciones no sigue el orden en que están escritas</a:t>
            </a:r>
          </a:p>
          <a:p>
            <a:pPr marL="450850" lvl="1">
              <a:buFont typeface="Arial" panose="020B0604020202020204" pitchFamily="34" charset="0"/>
              <a:buNone/>
              <a:defRPr/>
            </a:pPr>
            <a:r>
              <a:rPr lang="en-US" sz="12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sino que depende del resultado de la evaluación de una condición</a:t>
            </a:r>
          </a:p>
        </p:txBody>
      </p:sp>
    </p:spTree>
    <p:extLst>
      <p:ext uri="{BB962C8B-B14F-4D97-AF65-F5344CB8AC3E}">
        <p14:creationId xmlns:p14="http://schemas.microsoft.com/office/powerpoint/2010/main" val="2879477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BD2A83-95D3-3843-8246-E9D3A271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31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6DA83-0D27-D84A-86A8-678AA67B18B4}"/>
              </a:ext>
            </a:extLst>
          </p:cNvPr>
          <p:cNvSpPr txBox="1"/>
          <p:nvPr/>
        </p:nvSpPr>
        <p:spPr>
          <a:xfrm>
            <a:off x="2538924" y="1989418"/>
            <a:ext cx="7114148" cy="3041982"/>
          </a:xfrm>
          <a:prstGeom prst="roundRect">
            <a:avLst>
              <a:gd name="adj" fmla="val 977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en-US" sz="20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… y </a:t>
            </a:r>
            <a:r>
              <a:rPr lang="en-US" altLang="en-US" sz="20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2</a:t>
            </a:r>
            <a:r>
              <a:rPr lang="en-US" altLang="en-US" sz="20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instrucciones que especifiquen la dirección en la </a:t>
            </a:r>
            <a:r>
              <a:rPr lang="en-US" altLang="en-US" sz="20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Instruction Memory</a:t>
            </a:r>
            <a:r>
              <a:rPr lang="en-US" altLang="en-US" sz="20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de </a:t>
            </a:r>
            <a:r>
              <a:rPr lang="en-US" altLang="en-US" sz="20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la próxima instrucción que debe ser ejecutada</a:t>
            </a:r>
            <a:r>
              <a:rPr lang="en-US" altLang="en-US" sz="20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; p.ej.:</a:t>
            </a:r>
          </a:p>
          <a:p>
            <a:pPr lvl="1" indent="-269875">
              <a:lnSpc>
                <a:spcPct val="125000"/>
              </a:lnSpc>
              <a:spcBef>
                <a:spcPts val="12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JMP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end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“salta” directamente a ejecutar la instrucción identificada con el 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label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(etiqueta) ”</a:t>
            </a:r>
            <a:r>
              <a:rPr lang="en-US" altLang="en-US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end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” —</a:t>
            </a:r>
            <a:r>
              <a:rPr lang="en-US" altLang="en-US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saltos incondicionales</a:t>
            </a:r>
          </a:p>
          <a:p>
            <a:pPr lvl="1" indent="-269875">
              <a:lnSpc>
                <a:spcPct val="125000"/>
              </a:lnSpc>
              <a:spcBef>
                <a:spcPts val="12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JLE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end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“salta” a ejecutar la instrucción etiquetada “</a:t>
            </a:r>
            <a:r>
              <a:rPr lang="en-US" altLang="en-US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end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” sólo si el resultado de la comparación ejecutada justo antes fue “menor o igual” (</a:t>
            </a:r>
            <a:r>
              <a:rPr lang="en-US" altLang="en-US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less than or equal to</a:t>
            </a:r>
            <a:r>
              <a:rPr lang="en-US" altLang="en-US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—</a:t>
            </a:r>
            <a:r>
              <a:rPr lang="en-US" altLang="en-US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saltos condicionales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4C0393-70A1-4B26-DCE4-49C846814262}"/>
              </a:ext>
            </a:extLst>
          </p:cNvPr>
          <p:cNvSpPr txBox="1"/>
          <p:nvPr/>
        </p:nvSpPr>
        <p:spPr>
          <a:xfrm>
            <a:off x="3609503" y="274239"/>
            <a:ext cx="4972990" cy="78319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Necesitamos </a:t>
            </a:r>
            <a:r>
              <a:rPr lang="en-US" altLang="en-US" sz="14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1</a:t>
            </a:r>
            <a:r>
              <a:rPr lang="en-US" altLang="en-US" sz="14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instrucciones que comparen dos valores entre sí, y de alguna manera codifiquen el resultado de la comparación:</a:t>
            </a:r>
          </a:p>
          <a:p>
            <a:pPr lvl="1" indent="-269875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p.ej., </a:t>
            </a:r>
            <a:r>
              <a:rPr lang="en-US" altLang="en-US" sz="1200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CMP</a:t>
            </a: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</a:t>
            </a:r>
            <a:r>
              <a:rPr lang="en-US" altLang="en-US" sz="1200" b="1">
                <a:solidFill>
                  <a:srgbClr val="002060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A,B</a:t>
            </a: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compara los contenidos de los registros </a:t>
            </a:r>
            <a:r>
              <a:rPr lang="en-US" altLang="en-US" sz="12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 sz="12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y </a:t>
            </a:r>
            <a:r>
              <a:rPr lang="en-US" altLang="en-US" sz="12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090961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cument 7">
            <a:extLst>
              <a:ext uri="{FF2B5EF4-FFF2-40B4-BE49-F238E27FC236}">
                <a16:creationId xmlns:a16="http://schemas.microsoft.com/office/drawing/2014/main" id="{7E114A8B-0E33-0041-AF36-2959C3ADA439}"/>
              </a:ext>
            </a:extLst>
          </p:cNvPr>
          <p:cNvSpPr/>
          <p:nvPr/>
        </p:nvSpPr>
        <p:spPr>
          <a:xfrm>
            <a:off x="6277940" y="1846055"/>
            <a:ext cx="2895600" cy="3141663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21E5BD-C1E3-CD4B-AC51-84271D19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32</a:t>
            </a:fld>
            <a:endParaRPr lang="en-US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C2DE10E-4BF7-9540-9EE9-71845322C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7292" y="1846055"/>
            <a:ext cx="2132635" cy="1834515"/>
          </a:xfrm>
          <a:prstGeom prst="flowChartDocumen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x = 0:</a:t>
            </a:r>
          </a:p>
          <a:p>
            <a:pPr>
              <a:spcBef>
                <a:spcPct val="0"/>
              </a:spcBef>
              <a:buFontTx/>
              <a:buNone/>
              <a:tabLst>
                <a:tab pos="347663" algn="l"/>
              </a:tabLst>
            </a:pPr>
            <a:r>
              <a:rPr lang="en-US" altLang="en-US" sz="1800" i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1800" i="1">
                <a:solidFill>
                  <a:srgbClr val="7030A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hacer algo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else:</a:t>
            </a:r>
          </a:p>
          <a:p>
            <a:pPr>
              <a:spcBef>
                <a:spcPct val="0"/>
              </a:spcBef>
              <a:buFontTx/>
              <a:buNone/>
              <a:tabLst>
                <a:tab pos="347663" algn="l"/>
              </a:tabLst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1800" i="1">
                <a:solidFill>
                  <a:srgbClr val="7030A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hacer otra cosa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5B90E745-FAE1-F143-81E1-AE04C7880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340" y="1971468"/>
            <a:ext cx="26670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4213" algn="l"/>
              </a:tabLst>
              <a:defRPr sz="32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4213" algn="l"/>
              </a:tabLst>
              <a:defRPr sz="28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421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	CMP A,0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	JNE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	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	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2060"/>
                </a:solidFill>
                <a:cs typeface="Calibri" panose="020F0502020204030204" pitchFamily="34" charset="0"/>
              </a:rPr>
              <a:t>	...</a:t>
            </a:r>
            <a:endParaRPr lang="en-US" altLang="en-US" sz="1800">
              <a:solidFill>
                <a:srgbClr val="002060"/>
              </a:solidFill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	JMP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else:	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2060"/>
                </a:solidFill>
                <a:cs typeface="Calibri" panose="020F0502020204030204" pitchFamily="34" charset="0"/>
              </a:rPr>
              <a:t>	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2060"/>
                </a:solidFill>
                <a:cs typeface="Calibri" panose="020F0502020204030204" pitchFamily="34" charset="0"/>
              </a:rPr>
              <a:t>	...</a:t>
            </a:r>
            <a:endParaRPr lang="en-US" altLang="en-US" sz="1800">
              <a:solidFill>
                <a:srgbClr val="002060"/>
              </a:solidFill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end:	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B5031C-0E56-044F-81BC-8E0DC2C21D07}"/>
              </a:ext>
            </a:extLst>
          </p:cNvPr>
          <p:cNvSpPr txBox="1"/>
          <p:nvPr/>
        </p:nvSpPr>
        <p:spPr>
          <a:xfrm>
            <a:off x="2102173" y="4193968"/>
            <a:ext cx="4099567" cy="13961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instrucciones en </a:t>
            </a:r>
            <a:r>
              <a:rPr lang="en-US" sz="19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assembly</a:t>
            </a: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la versión en lenguaje de máquina está en la </a:t>
            </a:r>
            <a:r>
              <a:rPr lang="en-US" sz="19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Instruction Memory</a:t>
            </a: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(cada línea va en una dirección diferente)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9F9A6-F17F-CC4B-9212-BFD880359369}"/>
              </a:ext>
            </a:extLst>
          </p:cNvPr>
          <p:cNvSpPr txBox="1"/>
          <p:nvPr/>
        </p:nvSpPr>
        <p:spPr>
          <a:xfrm>
            <a:off x="9668840" y="1787318"/>
            <a:ext cx="2081960" cy="10726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código </a:t>
            </a:r>
            <a:r>
              <a:rPr lang="en-US" sz="19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assembly</a:t>
            </a:r>
          </a:p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correspondiente a</a:t>
            </a:r>
          </a:p>
          <a:p>
            <a:pPr>
              <a:defRPr/>
            </a:pPr>
            <a:r>
              <a:rPr lang="en-US" sz="1900" i="1">
                <a:solidFill>
                  <a:srgbClr val="7030A0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hacer algo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9A1AF-9559-D043-BAFD-2FCABCA60344}"/>
              </a:ext>
            </a:extLst>
          </p:cNvPr>
          <p:cNvSpPr txBox="1"/>
          <p:nvPr/>
        </p:nvSpPr>
        <p:spPr>
          <a:xfrm>
            <a:off x="9668840" y="3177968"/>
            <a:ext cx="2081960" cy="10726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código </a:t>
            </a:r>
            <a:r>
              <a:rPr lang="en-US" sz="19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assembly</a:t>
            </a:r>
          </a:p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correspondiente a</a:t>
            </a:r>
          </a:p>
          <a:p>
            <a:pPr>
              <a:defRPr/>
            </a:pPr>
            <a:r>
              <a:rPr lang="en-US" sz="1900" i="1">
                <a:solidFill>
                  <a:srgbClr val="7030A0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hacer otra cosa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06C2C4-A215-8C46-A6C9-78A914C703A3}"/>
              </a:ext>
            </a:extLst>
          </p:cNvPr>
          <p:cNvCxnSpPr>
            <a:cxnSpLocks/>
          </p:cNvCxnSpPr>
          <p:nvPr/>
        </p:nvCxnSpPr>
        <p:spPr>
          <a:xfrm flipH="1">
            <a:off x="7878140" y="2323635"/>
            <a:ext cx="1790700" cy="681295"/>
          </a:xfrm>
          <a:prstGeom prst="straightConnector1">
            <a:avLst/>
          </a:prstGeom>
          <a:ln w="3175">
            <a:solidFill>
              <a:srgbClr val="00B050"/>
            </a:solidFill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38DE5D-EAEB-F946-9996-21DFA6829F2D}"/>
              </a:ext>
            </a:extLst>
          </p:cNvPr>
          <p:cNvCxnSpPr>
            <a:cxnSpLocks/>
          </p:cNvCxnSpPr>
          <p:nvPr/>
        </p:nvCxnSpPr>
        <p:spPr>
          <a:xfrm flipH="1">
            <a:off x="7878140" y="3714285"/>
            <a:ext cx="1790700" cy="406658"/>
          </a:xfrm>
          <a:prstGeom prst="straightConnector1">
            <a:avLst/>
          </a:prstGeom>
          <a:ln w="3175">
            <a:solidFill>
              <a:srgbClr val="00B050"/>
            </a:solidFill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18E5EAB7-56D2-4042-A365-166727392D56}"/>
              </a:ext>
            </a:extLst>
          </p:cNvPr>
          <p:cNvSpPr/>
          <p:nvPr/>
        </p:nvSpPr>
        <p:spPr>
          <a:xfrm>
            <a:off x="7646365" y="2658855"/>
            <a:ext cx="114300" cy="658813"/>
          </a:xfrm>
          <a:prstGeom prst="rightBrace">
            <a:avLst/>
          </a:prstGeom>
          <a:ln w="31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CA30D8FC-179D-1743-9DDD-E8C2E2E124AD}"/>
              </a:ext>
            </a:extLst>
          </p:cNvPr>
          <p:cNvSpPr/>
          <p:nvPr/>
        </p:nvSpPr>
        <p:spPr>
          <a:xfrm>
            <a:off x="7646365" y="3801855"/>
            <a:ext cx="114300" cy="658813"/>
          </a:xfrm>
          <a:prstGeom prst="rightBrace">
            <a:avLst/>
          </a:prstGeom>
          <a:ln w="31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3E43D26-4EEE-7A41-93B6-7DBB74F3DA42}"/>
              </a:ext>
            </a:extLst>
          </p:cNvPr>
          <p:cNvCxnSpPr>
            <a:cxnSpLocks/>
          </p:cNvCxnSpPr>
          <p:nvPr/>
        </p:nvCxnSpPr>
        <p:spPr>
          <a:xfrm flipV="1">
            <a:off x="4151957" y="3416887"/>
            <a:ext cx="2125983" cy="777081"/>
          </a:xfrm>
          <a:prstGeom prst="straightConnector1">
            <a:avLst/>
          </a:prstGeom>
          <a:ln w="3175"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96F113-C2C3-CD42-AAE9-4FABD425D361}"/>
              </a:ext>
            </a:extLst>
          </p:cNvPr>
          <p:cNvSpPr txBox="1"/>
          <p:nvPr/>
        </p:nvSpPr>
        <p:spPr>
          <a:xfrm>
            <a:off x="9478340" y="4705143"/>
            <a:ext cx="2514600" cy="10726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900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labels</a:t>
            </a: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corresponden a las direcciones de las instrucciones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DDD860-E643-934A-8833-C6FD60877D08}"/>
              </a:ext>
            </a:extLst>
          </p:cNvPr>
          <p:cNvCxnSpPr/>
          <p:nvPr/>
        </p:nvCxnSpPr>
        <p:spPr>
          <a:xfrm>
            <a:off x="6724028" y="4833730"/>
            <a:ext cx="0" cy="8382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5822F52-37FD-EF4A-A1E3-A10FF46EED51}"/>
              </a:ext>
            </a:extLst>
          </p:cNvPr>
          <p:cNvCxnSpPr>
            <a:cxnSpLocks/>
          </p:cNvCxnSpPr>
          <p:nvPr/>
        </p:nvCxnSpPr>
        <p:spPr>
          <a:xfrm>
            <a:off x="6735140" y="5214730"/>
            <a:ext cx="2743200" cy="26730"/>
          </a:xfrm>
          <a:prstGeom prst="line">
            <a:avLst/>
          </a:prstGeom>
          <a:ln>
            <a:solidFill>
              <a:srgbClr val="FF0000"/>
            </a:solidFill>
            <a:prstDash val="dash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963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cument 9">
            <a:extLst>
              <a:ext uri="{FF2B5EF4-FFF2-40B4-BE49-F238E27FC236}">
                <a16:creationId xmlns:a16="http://schemas.microsoft.com/office/drawing/2014/main" id="{2B081E39-5853-A94E-8A2C-2F5B41B2E348}"/>
              </a:ext>
            </a:extLst>
          </p:cNvPr>
          <p:cNvSpPr/>
          <p:nvPr/>
        </p:nvSpPr>
        <p:spPr>
          <a:xfrm>
            <a:off x="6172200" y="2537033"/>
            <a:ext cx="2895600" cy="2611437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21E5BD-C1E3-CD4B-AC51-84271D19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33</a:t>
            </a:fld>
            <a:endParaRPr 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0F03382-AAF4-3E44-9236-137BC3887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4895" y="3657927"/>
            <a:ext cx="1704313" cy="1490543"/>
          </a:xfrm>
          <a:prstGeom prst="flowChartDocumen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i &gt; 0:</a:t>
            </a:r>
          </a:p>
          <a:p>
            <a:pPr>
              <a:spcBef>
                <a:spcPct val="0"/>
              </a:spcBef>
              <a:buFontTx/>
              <a:buNone/>
              <a:tabLst>
                <a:tab pos="347663" algn="l"/>
              </a:tabLst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1800" i="1">
                <a:solidFill>
                  <a:srgbClr val="7030A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hacer algo</a:t>
            </a:r>
            <a:endParaRPr lang="en-US" altLang="en-US" sz="1800">
              <a:solidFill>
                <a:srgbClr val="7030A0"/>
              </a:solidFill>
              <a:latin typeface="Century Schoolbook" panose="02040604050505020304" pitchFamily="18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7663" algn="l"/>
              </a:tabLst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 = i-1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7A4B9-E53E-864E-A954-2F0B7FEDE3DA}"/>
              </a:ext>
            </a:extLst>
          </p:cNvPr>
          <p:cNvSpPr txBox="1"/>
          <p:nvPr/>
        </p:nvSpPr>
        <p:spPr>
          <a:xfrm>
            <a:off x="6324600" y="2710070"/>
            <a:ext cx="2667000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while: CMP A,0</a:t>
            </a:r>
          </a:p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JLE end</a:t>
            </a:r>
          </a:p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...</a:t>
            </a:r>
          </a:p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...</a:t>
            </a:r>
          </a:p>
          <a:p>
            <a:pPr>
              <a:tabLst>
                <a:tab pos="684213" algn="l"/>
              </a:tabLst>
              <a:defRPr/>
            </a:pPr>
            <a:r>
              <a:rPr lang="en-US" i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...</a:t>
            </a:r>
            <a:endParaRPr lang="en-US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SUB A,1</a:t>
            </a:r>
          </a:p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JMP while</a:t>
            </a:r>
          </a:p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end:	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B5031C-0E56-044F-81BC-8E0DC2C21D07}"/>
              </a:ext>
            </a:extLst>
          </p:cNvPr>
          <p:cNvSpPr txBox="1"/>
          <p:nvPr/>
        </p:nvSpPr>
        <p:spPr>
          <a:xfrm>
            <a:off x="1996433" y="1232108"/>
            <a:ext cx="4099567" cy="13961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instrucciones en </a:t>
            </a:r>
            <a:r>
              <a:rPr lang="en-US" sz="19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assembly</a:t>
            </a: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la versión en lenguaje de máquina está en la </a:t>
            </a:r>
            <a:r>
              <a:rPr lang="en-US" sz="19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Instruction Memory</a:t>
            </a: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(cada línea va en una dirección diferente)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BF1CC5-EC75-ED4C-9B45-2F3504184FD2}"/>
              </a:ext>
            </a:extLst>
          </p:cNvPr>
          <p:cNvSpPr txBox="1"/>
          <p:nvPr/>
        </p:nvSpPr>
        <p:spPr>
          <a:xfrm>
            <a:off x="9499600" y="3949908"/>
            <a:ext cx="2081960" cy="10726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código </a:t>
            </a:r>
            <a:r>
              <a:rPr lang="en-US" sz="19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assembly</a:t>
            </a:r>
          </a:p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correspondiente a</a:t>
            </a:r>
          </a:p>
          <a:p>
            <a:pPr>
              <a:defRPr/>
            </a:pPr>
            <a:r>
              <a:rPr lang="en-US" sz="1900" i="1">
                <a:solidFill>
                  <a:srgbClr val="7030A0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hacer algo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8CF7DE-ECF7-4F44-9807-8460B4C8A057}"/>
              </a:ext>
            </a:extLst>
          </p:cNvPr>
          <p:cNvCxnSpPr>
            <a:cxnSpLocks/>
          </p:cNvCxnSpPr>
          <p:nvPr/>
        </p:nvCxnSpPr>
        <p:spPr>
          <a:xfrm flipH="1" flipV="1">
            <a:off x="7772400" y="3843545"/>
            <a:ext cx="1727200" cy="642680"/>
          </a:xfrm>
          <a:prstGeom prst="straightConnector1">
            <a:avLst/>
          </a:prstGeom>
          <a:ln w="3175">
            <a:solidFill>
              <a:srgbClr val="00B050"/>
            </a:solidFill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Brace 18">
            <a:extLst>
              <a:ext uri="{FF2B5EF4-FFF2-40B4-BE49-F238E27FC236}">
                <a16:creationId xmlns:a16="http://schemas.microsoft.com/office/drawing/2014/main" id="{2822325A-C9E0-BC4C-BA50-23FFCACB0274}"/>
              </a:ext>
            </a:extLst>
          </p:cNvPr>
          <p:cNvSpPr/>
          <p:nvPr/>
        </p:nvSpPr>
        <p:spPr>
          <a:xfrm>
            <a:off x="7540625" y="3472070"/>
            <a:ext cx="114300" cy="658813"/>
          </a:xfrm>
          <a:prstGeom prst="rightBrace">
            <a:avLst/>
          </a:prstGeom>
          <a:ln w="31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C46402-30DD-A648-A16D-FB6B8C7C886C}"/>
              </a:ext>
            </a:extLst>
          </p:cNvPr>
          <p:cNvCxnSpPr>
            <a:cxnSpLocks/>
          </p:cNvCxnSpPr>
          <p:nvPr/>
        </p:nvCxnSpPr>
        <p:spPr>
          <a:xfrm>
            <a:off x="4046217" y="2628235"/>
            <a:ext cx="2125983" cy="1214517"/>
          </a:xfrm>
          <a:prstGeom prst="straightConnector1">
            <a:avLst/>
          </a:prstGeom>
          <a:ln w="3175"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96F113-C2C3-CD42-AAE9-4FABD425D361}"/>
              </a:ext>
            </a:extLst>
          </p:cNvPr>
          <p:cNvSpPr txBox="1"/>
          <p:nvPr/>
        </p:nvSpPr>
        <p:spPr>
          <a:xfrm>
            <a:off x="9372600" y="1743283"/>
            <a:ext cx="2514600" cy="10726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900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labels</a:t>
            </a: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corresponden a las direcciones de las instrucciones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DDD860-E643-934A-8833-C6FD60877D08}"/>
              </a:ext>
            </a:extLst>
          </p:cNvPr>
          <p:cNvCxnSpPr/>
          <p:nvPr/>
        </p:nvCxnSpPr>
        <p:spPr>
          <a:xfrm>
            <a:off x="6618288" y="1871870"/>
            <a:ext cx="0" cy="8382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5822F52-37FD-EF4A-A1E3-A10FF46EED51}"/>
              </a:ext>
            </a:extLst>
          </p:cNvPr>
          <p:cNvCxnSpPr>
            <a:cxnSpLocks/>
          </p:cNvCxnSpPr>
          <p:nvPr/>
        </p:nvCxnSpPr>
        <p:spPr>
          <a:xfrm>
            <a:off x="6629400" y="2252870"/>
            <a:ext cx="2743200" cy="26730"/>
          </a:xfrm>
          <a:prstGeom prst="line">
            <a:avLst/>
          </a:prstGeom>
          <a:ln>
            <a:solidFill>
              <a:srgbClr val="FF0000"/>
            </a:solidFill>
            <a:prstDash val="dash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5202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cument 7">
            <a:extLst>
              <a:ext uri="{FF2B5EF4-FFF2-40B4-BE49-F238E27FC236}">
                <a16:creationId xmlns:a16="http://schemas.microsoft.com/office/drawing/2014/main" id="{7E114A8B-0E33-0041-AF36-2959C3ADA439}"/>
              </a:ext>
            </a:extLst>
          </p:cNvPr>
          <p:cNvSpPr/>
          <p:nvPr/>
        </p:nvSpPr>
        <p:spPr>
          <a:xfrm>
            <a:off x="6039401" y="365125"/>
            <a:ext cx="2895600" cy="3141663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Document 9">
            <a:extLst>
              <a:ext uri="{FF2B5EF4-FFF2-40B4-BE49-F238E27FC236}">
                <a16:creationId xmlns:a16="http://schemas.microsoft.com/office/drawing/2014/main" id="{2B081E39-5853-A94E-8A2C-2F5B41B2E348}"/>
              </a:ext>
            </a:extLst>
          </p:cNvPr>
          <p:cNvSpPr/>
          <p:nvPr/>
        </p:nvSpPr>
        <p:spPr>
          <a:xfrm>
            <a:off x="6039401" y="4017963"/>
            <a:ext cx="2895600" cy="2611437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21E5BD-C1E3-CD4B-AC51-84271D19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34</a:t>
            </a:fld>
            <a:endParaRPr lang="en-US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C2DE10E-4BF7-9540-9EE9-71845322C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8753" y="365125"/>
            <a:ext cx="2132635" cy="1834515"/>
          </a:xfrm>
          <a:prstGeom prst="flowChartDocumen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x = 0:</a:t>
            </a:r>
          </a:p>
          <a:p>
            <a:pPr>
              <a:spcBef>
                <a:spcPct val="0"/>
              </a:spcBef>
              <a:buFontTx/>
              <a:buNone/>
              <a:tabLst>
                <a:tab pos="347663" algn="l"/>
              </a:tabLst>
            </a:pPr>
            <a:r>
              <a:rPr lang="en-US" altLang="en-US" sz="1800" i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1800" i="1">
                <a:solidFill>
                  <a:srgbClr val="7030A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hacer algo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else:</a:t>
            </a:r>
          </a:p>
          <a:p>
            <a:pPr>
              <a:spcBef>
                <a:spcPct val="0"/>
              </a:spcBef>
              <a:buFontTx/>
              <a:buNone/>
              <a:tabLst>
                <a:tab pos="347663" algn="l"/>
              </a:tabLst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1800" i="1">
                <a:solidFill>
                  <a:srgbClr val="7030A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hacer otra cosa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0F03382-AAF4-3E44-9236-137BC3887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2913" y="5138857"/>
            <a:ext cx="1704313" cy="1490543"/>
          </a:xfrm>
          <a:prstGeom prst="flowChartDocumen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i &gt; 0:</a:t>
            </a:r>
          </a:p>
          <a:p>
            <a:pPr>
              <a:spcBef>
                <a:spcPct val="0"/>
              </a:spcBef>
              <a:buFontTx/>
              <a:buNone/>
              <a:tabLst>
                <a:tab pos="347663" algn="l"/>
              </a:tabLst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1800" i="1">
                <a:solidFill>
                  <a:srgbClr val="7030A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hacer algo</a:t>
            </a:r>
            <a:endParaRPr lang="en-US" altLang="en-US" sz="1800">
              <a:solidFill>
                <a:srgbClr val="7030A0"/>
              </a:solidFill>
              <a:latin typeface="Century Schoolbook" panose="02040604050505020304" pitchFamily="18" charset="0"/>
              <a:cs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47663" algn="l"/>
              </a:tabLst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 = i-1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5B90E745-FAE1-F143-81E1-AE04C7880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801" y="490538"/>
            <a:ext cx="26670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4213" algn="l"/>
              </a:tabLst>
              <a:defRPr sz="32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4213" algn="l"/>
              </a:tabLst>
              <a:defRPr sz="28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84213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84213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	CMP A,0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	JNE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	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	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2060"/>
                </a:solidFill>
                <a:cs typeface="Calibri" panose="020F0502020204030204" pitchFamily="34" charset="0"/>
              </a:rPr>
              <a:t>	...</a:t>
            </a:r>
            <a:endParaRPr lang="en-US" altLang="en-US" sz="1800">
              <a:solidFill>
                <a:srgbClr val="002060"/>
              </a:solidFill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	JMP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else:	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2060"/>
                </a:solidFill>
                <a:cs typeface="Calibri" panose="020F0502020204030204" pitchFamily="34" charset="0"/>
              </a:rPr>
              <a:t>	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2060"/>
                </a:solidFill>
                <a:cs typeface="Calibri" panose="020F0502020204030204" pitchFamily="34" charset="0"/>
              </a:rPr>
              <a:t>	...</a:t>
            </a:r>
            <a:endParaRPr lang="en-US" altLang="en-US" sz="1800">
              <a:solidFill>
                <a:srgbClr val="002060"/>
              </a:solidFill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2060"/>
                </a:solidFill>
                <a:cs typeface="Calibri" panose="020F0502020204030204" pitchFamily="34" charset="0"/>
              </a:rPr>
              <a:t>end:	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7A4B9-E53E-864E-A954-2F0B7FEDE3DA}"/>
              </a:ext>
            </a:extLst>
          </p:cNvPr>
          <p:cNvSpPr txBox="1"/>
          <p:nvPr/>
        </p:nvSpPr>
        <p:spPr>
          <a:xfrm>
            <a:off x="6191801" y="4191000"/>
            <a:ext cx="2667000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while: CMP A,0</a:t>
            </a:r>
          </a:p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JLE end</a:t>
            </a:r>
          </a:p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...</a:t>
            </a:r>
          </a:p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...</a:t>
            </a:r>
          </a:p>
          <a:p>
            <a:pPr>
              <a:tabLst>
                <a:tab pos="684213" algn="l"/>
              </a:tabLst>
              <a:defRPr/>
            </a:pPr>
            <a:r>
              <a:rPr lang="en-US" i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...</a:t>
            </a:r>
            <a:endParaRPr lang="en-US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SUB A,1</a:t>
            </a:r>
          </a:p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JMP while</a:t>
            </a:r>
          </a:p>
          <a:p>
            <a:pPr>
              <a:tabLst>
                <a:tab pos="684213" algn="l"/>
              </a:tabLst>
              <a:defRPr/>
            </a:pPr>
            <a:r>
              <a:rPr lang="en-US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end:	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B5031C-0E56-044F-81BC-8E0DC2C21D07}"/>
              </a:ext>
            </a:extLst>
          </p:cNvPr>
          <p:cNvSpPr txBox="1"/>
          <p:nvPr/>
        </p:nvSpPr>
        <p:spPr>
          <a:xfrm>
            <a:off x="1863634" y="2713038"/>
            <a:ext cx="4099567" cy="139612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instrucciones en </a:t>
            </a:r>
            <a:r>
              <a:rPr lang="en-US" sz="19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assembly</a:t>
            </a: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la versión en lenguaje de máquina está en la </a:t>
            </a:r>
            <a:r>
              <a:rPr lang="en-US" sz="19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Instruction Memory</a:t>
            </a: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(cada línea va en una dirección diferente)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9F9A6-F17F-CC4B-9212-BFD880359369}"/>
              </a:ext>
            </a:extLst>
          </p:cNvPr>
          <p:cNvSpPr txBox="1"/>
          <p:nvPr/>
        </p:nvSpPr>
        <p:spPr>
          <a:xfrm>
            <a:off x="9430301" y="306388"/>
            <a:ext cx="2081960" cy="10726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código assembly</a:t>
            </a:r>
          </a:p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correspondiente a</a:t>
            </a:r>
          </a:p>
          <a:p>
            <a:pPr>
              <a:defRPr/>
            </a:pPr>
            <a:r>
              <a:rPr lang="en-US" sz="1900" i="1">
                <a:solidFill>
                  <a:srgbClr val="7030A0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hacer algo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BF1CC5-EC75-ED4C-9B45-2F3504184FD2}"/>
              </a:ext>
            </a:extLst>
          </p:cNvPr>
          <p:cNvSpPr txBox="1"/>
          <p:nvPr/>
        </p:nvSpPr>
        <p:spPr>
          <a:xfrm>
            <a:off x="9366801" y="5430838"/>
            <a:ext cx="2081960" cy="10726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código assembly</a:t>
            </a:r>
          </a:p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correspondiente </a:t>
            </a:r>
            <a:r>
              <a:rPr lang="en-US" sz="19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  <a:p>
            <a:pPr>
              <a:defRPr/>
            </a:pPr>
            <a:r>
              <a:rPr lang="en-US" sz="1900" i="1">
                <a:solidFill>
                  <a:srgbClr val="7030A0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hacer algo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9A1AF-9559-D043-BAFD-2FCABCA60344}"/>
              </a:ext>
            </a:extLst>
          </p:cNvPr>
          <p:cNvSpPr txBox="1"/>
          <p:nvPr/>
        </p:nvSpPr>
        <p:spPr>
          <a:xfrm>
            <a:off x="9430301" y="1697038"/>
            <a:ext cx="2081960" cy="10726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código assembly</a:t>
            </a:r>
          </a:p>
          <a:p>
            <a:pPr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correspondiente a</a:t>
            </a:r>
          </a:p>
          <a:p>
            <a:pPr>
              <a:defRPr/>
            </a:pPr>
            <a:r>
              <a:rPr lang="en-US" sz="1900" i="1">
                <a:solidFill>
                  <a:srgbClr val="7030A0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hacer otra cosa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06C2C4-A215-8C46-A6C9-78A914C703A3}"/>
              </a:ext>
            </a:extLst>
          </p:cNvPr>
          <p:cNvCxnSpPr>
            <a:cxnSpLocks/>
          </p:cNvCxnSpPr>
          <p:nvPr/>
        </p:nvCxnSpPr>
        <p:spPr>
          <a:xfrm flipH="1">
            <a:off x="7639601" y="842705"/>
            <a:ext cx="1790700" cy="681295"/>
          </a:xfrm>
          <a:prstGeom prst="straightConnector1">
            <a:avLst/>
          </a:prstGeom>
          <a:ln w="3175">
            <a:solidFill>
              <a:srgbClr val="00B050"/>
            </a:solidFill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38DE5D-EAEB-F946-9996-21DFA6829F2D}"/>
              </a:ext>
            </a:extLst>
          </p:cNvPr>
          <p:cNvCxnSpPr>
            <a:cxnSpLocks/>
          </p:cNvCxnSpPr>
          <p:nvPr/>
        </p:nvCxnSpPr>
        <p:spPr>
          <a:xfrm flipH="1">
            <a:off x="7639601" y="2233355"/>
            <a:ext cx="1790700" cy="406658"/>
          </a:xfrm>
          <a:prstGeom prst="straightConnector1">
            <a:avLst/>
          </a:prstGeom>
          <a:ln w="3175">
            <a:solidFill>
              <a:srgbClr val="00B050"/>
            </a:solidFill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8CF7DE-ECF7-4F44-9807-8460B4C8A057}"/>
              </a:ext>
            </a:extLst>
          </p:cNvPr>
          <p:cNvCxnSpPr>
            <a:cxnSpLocks/>
          </p:cNvCxnSpPr>
          <p:nvPr/>
        </p:nvCxnSpPr>
        <p:spPr>
          <a:xfrm flipH="1" flipV="1">
            <a:off x="7639601" y="5324475"/>
            <a:ext cx="1727200" cy="642680"/>
          </a:xfrm>
          <a:prstGeom prst="straightConnector1">
            <a:avLst/>
          </a:prstGeom>
          <a:ln w="3175">
            <a:solidFill>
              <a:srgbClr val="00B050"/>
            </a:solidFill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18E5EAB7-56D2-4042-A365-166727392D56}"/>
              </a:ext>
            </a:extLst>
          </p:cNvPr>
          <p:cNvSpPr/>
          <p:nvPr/>
        </p:nvSpPr>
        <p:spPr>
          <a:xfrm>
            <a:off x="7407826" y="1177925"/>
            <a:ext cx="114300" cy="658813"/>
          </a:xfrm>
          <a:prstGeom prst="rightBrace">
            <a:avLst/>
          </a:prstGeom>
          <a:ln w="31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CA30D8FC-179D-1743-9DDD-E8C2E2E124AD}"/>
              </a:ext>
            </a:extLst>
          </p:cNvPr>
          <p:cNvSpPr/>
          <p:nvPr/>
        </p:nvSpPr>
        <p:spPr>
          <a:xfrm>
            <a:off x="7407826" y="2320925"/>
            <a:ext cx="114300" cy="658813"/>
          </a:xfrm>
          <a:prstGeom prst="rightBrace">
            <a:avLst/>
          </a:prstGeom>
          <a:ln w="31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2822325A-C9E0-BC4C-BA50-23FFCACB0274}"/>
              </a:ext>
            </a:extLst>
          </p:cNvPr>
          <p:cNvSpPr/>
          <p:nvPr/>
        </p:nvSpPr>
        <p:spPr>
          <a:xfrm>
            <a:off x="7407826" y="4953000"/>
            <a:ext cx="114300" cy="658813"/>
          </a:xfrm>
          <a:prstGeom prst="rightBrace">
            <a:avLst/>
          </a:prstGeom>
          <a:ln w="31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3E43D26-4EEE-7A41-93B6-7DBB74F3DA42}"/>
              </a:ext>
            </a:extLst>
          </p:cNvPr>
          <p:cNvCxnSpPr>
            <a:cxnSpLocks/>
          </p:cNvCxnSpPr>
          <p:nvPr/>
        </p:nvCxnSpPr>
        <p:spPr>
          <a:xfrm flipV="1">
            <a:off x="3913418" y="1935957"/>
            <a:ext cx="2125983" cy="777081"/>
          </a:xfrm>
          <a:prstGeom prst="straightConnector1">
            <a:avLst/>
          </a:prstGeom>
          <a:ln w="3175"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C46402-30DD-A648-A16D-FB6B8C7C886C}"/>
              </a:ext>
            </a:extLst>
          </p:cNvPr>
          <p:cNvCxnSpPr>
            <a:cxnSpLocks/>
          </p:cNvCxnSpPr>
          <p:nvPr/>
        </p:nvCxnSpPr>
        <p:spPr>
          <a:xfrm>
            <a:off x="3913418" y="4109165"/>
            <a:ext cx="2125983" cy="1214517"/>
          </a:xfrm>
          <a:prstGeom prst="straightConnector1">
            <a:avLst/>
          </a:prstGeom>
          <a:ln w="3175">
            <a:prstDash val="lg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96F113-C2C3-CD42-AAE9-4FABD425D361}"/>
              </a:ext>
            </a:extLst>
          </p:cNvPr>
          <p:cNvSpPr txBox="1"/>
          <p:nvPr/>
        </p:nvSpPr>
        <p:spPr>
          <a:xfrm>
            <a:off x="9239801" y="3224213"/>
            <a:ext cx="2514600" cy="10726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9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labels: corresponden a las direcciones de las instrucciones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DDD860-E643-934A-8833-C6FD60877D08}"/>
              </a:ext>
            </a:extLst>
          </p:cNvPr>
          <p:cNvCxnSpPr/>
          <p:nvPr/>
        </p:nvCxnSpPr>
        <p:spPr>
          <a:xfrm>
            <a:off x="6485489" y="3352800"/>
            <a:ext cx="0" cy="8382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5822F52-37FD-EF4A-A1E3-A10FF46EED51}"/>
              </a:ext>
            </a:extLst>
          </p:cNvPr>
          <p:cNvCxnSpPr>
            <a:cxnSpLocks/>
          </p:cNvCxnSpPr>
          <p:nvPr/>
        </p:nvCxnSpPr>
        <p:spPr>
          <a:xfrm>
            <a:off x="6496601" y="3733800"/>
            <a:ext cx="2743200" cy="26730"/>
          </a:xfrm>
          <a:prstGeom prst="line">
            <a:avLst/>
          </a:prstGeom>
          <a:ln>
            <a:solidFill>
              <a:srgbClr val="FF0000"/>
            </a:solidFill>
            <a:prstDash val="dash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400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0FE580-62F3-0E49-B0FA-BA4E67A9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35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14000DF-7C0A-6B4F-97F5-0443B6D57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112" y="1341812"/>
            <a:ext cx="8288337" cy="536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DD52F0-0685-654E-8B0F-4C99BEDB6EF6}"/>
              </a:ext>
            </a:extLst>
          </p:cNvPr>
          <p:cNvSpPr txBox="1"/>
          <p:nvPr/>
        </p:nvSpPr>
        <p:spPr>
          <a:xfrm>
            <a:off x="1615656" y="116157"/>
            <a:ext cx="7797854" cy="12258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defRPr/>
            </a:pP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Para permitir </a:t>
            </a:r>
            <a:r>
              <a:rPr lang="en-US" sz="2000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saltos incondicionales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en-US" sz="20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JMP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hay que poder poner en el </a:t>
            </a:r>
            <a:r>
              <a:rPr lang="en-US" sz="2000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PC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la dirección de la instrucción que queremos ejecutar a continuación: conectamos la salida </a:t>
            </a:r>
            <a:r>
              <a:rPr lang="en-US" sz="20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 out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de la </a:t>
            </a:r>
            <a:r>
              <a:rPr lang="en-US" sz="20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Instruction Memory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al registro </a:t>
            </a:r>
            <a:r>
              <a:rPr lang="en-US" sz="2000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PC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…</a:t>
            </a:r>
            <a:endParaRPr lang="en-US" sz="2000" baseline="-25000">
              <a:solidFill>
                <a:srgbClr val="00206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007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B11418-73F6-F941-ABBF-546A2CEA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36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B513B74-D2EA-9346-84DE-32F1F8245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986" y="1411027"/>
            <a:ext cx="8288337" cy="536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BF2E15-C72B-D34C-B4BF-C932BE029E64}"/>
              </a:ext>
            </a:extLst>
          </p:cNvPr>
          <p:cNvSpPr txBox="1"/>
          <p:nvPr/>
        </p:nvSpPr>
        <p:spPr>
          <a:xfrm>
            <a:off x="1715589" y="127307"/>
            <a:ext cx="7097485" cy="13218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defRPr/>
            </a:pP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y la nueva señal de control </a:t>
            </a:r>
            <a:r>
              <a:rPr lang="en-US" sz="20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</a:t>
            </a:r>
            <a:r>
              <a:rPr lang="en-US" sz="2000" i="1" baseline="-25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PC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indica cómo es actualizado el </a:t>
            </a:r>
            <a:r>
              <a:rPr lang="en-US" sz="2000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PC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marL="403225" indent="-168275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ya sea con la dirección que viene desde la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Instruction Memory</a:t>
            </a:r>
          </a:p>
          <a:p>
            <a:pPr marL="403225" indent="-168275">
              <a:lnSpc>
                <a:spcPct val="112000"/>
              </a:lnSpc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o simplemente sumándole 1</a:t>
            </a:r>
          </a:p>
        </p:txBody>
      </p:sp>
    </p:spTree>
    <p:extLst>
      <p:ext uri="{BB962C8B-B14F-4D97-AF65-F5344CB8AC3E}">
        <p14:creationId xmlns:p14="http://schemas.microsoft.com/office/powerpoint/2010/main" val="1834694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440D69-63E5-A441-AAA0-AA79EA8C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37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ACF6BB6-F10E-7B45-8F2C-D7315A072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688" y="1315448"/>
            <a:ext cx="8191500" cy="532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CD3306-D970-7B48-931C-176746A6803D}"/>
              </a:ext>
            </a:extLst>
          </p:cNvPr>
          <p:cNvSpPr txBox="1"/>
          <p:nvPr/>
        </p:nvSpPr>
        <p:spPr>
          <a:xfrm>
            <a:off x="619684" y="174848"/>
            <a:ext cx="6069874" cy="12258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defRPr/>
            </a:pP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Para </a:t>
            </a:r>
            <a:r>
              <a:rPr lang="en-US" sz="2000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saltos condicionales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en-US" sz="20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JNE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0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JLE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), la </a:t>
            </a:r>
            <a:r>
              <a:rPr lang="en-US" sz="20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Control Unit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tiene que examinar el resultado de la </a:t>
            </a:r>
            <a:r>
              <a:rPr lang="en-US" sz="20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ALU</a:t>
            </a:r>
            <a:r>
              <a:rPr 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justo después de hecha la comparación; </a:t>
            </a:r>
            <a:r>
              <a:rPr lang="en-US" alt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p.ej., si es 0 o si es negativo</a:t>
            </a:r>
            <a:endParaRPr lang="en-US" sz="2000" baseline="-25000">
              <a:solidFill>
                <a:srgbClr val="00206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1DC394D-8AA0-2647-969D-7B81FF0CF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138" y="5255623"/>
            <a:ext cx="3276600" cy="12258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1F497D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onstantia" panose="02030602050306030303" pitchFamily="18" charset="0"/>
              </a:defRPr>
            </a:lvl9pPr>
          </a:lstStyle>
          <a:p>
            <a:pPr>
              <a:lnSpc>
                <a:spcPct val="112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Agregamos el registro </a:t>
            </a:r>
            <a:r>
              <a:rPr lang="en-US" altLang="en-US" sz="2000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Status</a:t>
            </a:r>
            <a:r>
              <a:rPr lang="en-US" alt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entre la </a:t>
            </a:r>
            <a:r>
              <a:rPr lang="en-US" altLang="en-US" sz="20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ALU</a:t>
            </a:r>
            <a:r>
              <a:rPr lang="en-US" alt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y la </a:t>
            </a:r>
            <a:r>
              <a:rPr lang="en-US" altLang="en-US" sz="2000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Control Unit </a:t>
            </a:r>
            <a:r>
              <a:rPr lang="en-US" altLang="en-US" sz="200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 esta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543546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A55517-9127-AD45-95C6-C5A551319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646" y="113211"/>
            <a:ext cx="6824106" cy="3736894"/>
          </a:xfrm>
          <a:prstGeom prst="roundRect">
            <a:avLst>
              <a:gd name="adj" fmla="val 1001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>
            <a:normAutofit lnSpcReduction="10000"/>
          </a:bodyPr>
          <a:lstStyle/>
          <a:p>
            <a:pPr>
              <a:lnSpc>
                <a:spcPct val="112000"/>
              </a:lnSpc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Ocho nuevas instrucciones de nuestro lenguaje assembly (</a:t>
            </a:r>
            <a:r>
              <a:rPr lang="en-US" b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que ya totaliza 69 instrucciones ⇒ opcodes de 7 bits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):</a:t>
            </a:r>
          </a:p>
          <a:p>
            <a:pPr marL="355600" lvl="1" indent="-190500">
              <a:lnSpc>
                <a:spcPct val="112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toma dos operandos y los compara por la vía de restarlos</a:t>
            </a:r>
          </a:p>
          <a:p>
            <a:pPr marL="400050" lvl="1" indent="0">
              <a:lnSpc>
                <a:spcPct val="112000"/>
              </a:lnSpc>
              <a:buFont typeface="Arial" panose="020B0604020202020204" pitchFamily="34" charset="0"/>
              <a:buNone/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el resultado queda codificado en los bits </a:t>
            </a:r>
            <a:r>
              <a:rPr lang="en-US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(¿es negativo?) y </a:t>
            </a:r>
            <a:r>
              <a:rPr lang="en-US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Z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(¿es cero?) del registro </a:t>
            </a:r>
            <a:r>
              <a:rPr lang="en-US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Status</a:t>
            </a:r>
          </a:p>
          <a:p>
            <a:pPr marL="355600" lvl="1" indent="-190500">
              <a:lnSpc>
                <a:spcPct val="112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las instrucciones </a:t>
            </a:r>
            <a:r>
              <a:rPr lang="en-US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Jxx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tienen un solo operando: la dirección de una instrucción en la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Instruction Memory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(especificada por una etiqueta, o </a:t>
            </a:r>
            <a:r>
              <a:rPr lang="en-US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label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pPr marL="355600" lvl="1" indent="0">
              <a:lnSpc>
                <a:spcPct val="112000"/>
              </a:lnSpc>
              <a:buFont typeface="Arial" panose="020B0604020202020204" pitchFamily="34" charset="0"/>
              <a:buNone/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esa dirección (</a:t>
            </a:r>
            <a:r>
              <a:rPr lang="en-US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es escrita en el registro </a:t>
            </a:r>
            <a:r>
              <a:rPr lang="en-US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PC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si y sólo si se cumple la condición codificada en términos de los bits </a:t>
            </a:r>
            <a:r>
              <a:rPr lang="en-US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y/o </a:t>
            </a:r>
            <a:r>
              <a:rPr lang="en-US" b="1" i="1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A9999C-4B7A-724C-A90D-D4E94476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38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71370EC-900A-CB42-BAC8-CA93B9400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44" y="3944277"/>
            <a:ext cx="7200900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eft Brace 4">
            <a:extLst>
              <a:ext uri="{FF2B5EF4-FFF2-40B4-BE49-F238E27FC236}">
                <a16:creationId xmlns:a16="http://schemas.microsoft.com/office/drawing/2014/main" id="{0C30A5E5-C450-BC4E-AFB5-2564E7A79EE6}"/>
              </a:ext>
            </a:extLst>
          </p:cNvPr>
          <p:cNvSpPr/>
          <p:nvPr/>
        </p:nvSpPr>
        <p:spPr>
          <a:xfrm>
            <a:off x="4284617" y="4946468"/>
            <a:ext cx="209006" cy="1515291"/>
          </a:xfrm>
          <a:prstGeom prst="leftBrace">
            <a:avLst>
              <a:gd name="adj1" fmla="val 58333"/>
              <a:gd name="adj2" fmla="val 50000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1" name="Bent Arrow 10">
            <a:extLst>
              <a:ext uri="{FF2B5EF4-FFF2-40B4-BE49-F238E27FC236}">
                <a16:creationId xmlns:a16="http://schemas.microsoft.com/office/drawing/2014/main" id="{C113762D-D233-F943-A095-38721DDE19B2}"/>
              </a:ext>
            </a:extLst>
          </p:cNvPr>
          <p:cNvSpPr/>
          <p:nvPr/>
        </p:nvSpPr>
        <p:spPr>
          <a:xfrm rot="10800000" flipH="1">
            <a:off x="1828800" y="2348564"/>
            <a:ext cx="2333896" cy="3599390"/>
          </a:xfrm>
          <a:prstGeom prst="bentArrow">
            <a:avLst>
              <a:gd name="adj1" fmla="val 5246"/>
              <a:gd name="adj2" fmla="val 10577"/>
              <a:gd name="adj3" fmla="val 25000"/>
              <a:gd name="adj4" fmla="val 4375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>
              <a:solidFill>
                <a:schemeClr val="tx1"/>
              </a:solidFill>
            </a:endParaRPr>
          </a:p>
        </p:txBody>
      </p:sp>
      <p:sp>
        <p:nvSpPr>
          <p:cNvPr id="12" name="U-Turn Arrow 11">
            <a:extLst>
              <a:ext uri="{FF2B5EF4-FFF2-40B4-BE49-F238E27FC236}">
                <a16:creationId xmlns:a16="http://schemas.microsoft.com/office/drawing/2014/main" id="{2BE1C445-D0DE-134B-9698-9578EE0973C2}"/>
              </a:ext>
            </a:extLst>
          </p:cNvPr>
          <p:cNvSpPr/>
          <p:nvPr/>
        </p:nvSpPr>
        <p:spPr>
          <a:xfrm rot="5400000" flipV="1">
            <a:off x="931589" y="1097052"/>
            <a:ext cx="3414219" cy="3953695"/>
          </a:xfrm>
          <a:prstGeom prst="uturnArrow">
            <a:avLst>
              <a:gd name="adj1" fmla="val 2469"/>
              <a:gd name="adj2" fmla="val 6414"/>
              <a:gd name="adj3" fmla="val 20078"/>
              <a:gd name="adj4" fmla="val 43750"/>
              <a:gd name="adj5" fmla="val 9846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0593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65107B-1B71-334C-9689-E527890FA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9366" y="490639"/>
            <a:ext cx="7093268" cy="587672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lnSpc>
                <a:spcPct val="125000"/>
              </a:lnSpc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 las 69 instrucciones vistas, nuestro assembly nos permite escribir programas como los siguientes:</a:t>
            </a:r>
          </a:p>
          <a:p>
            <a:pPr>
              <a:lnSpc>
                <a:spcPct val="125000"/>
              </a:lnSpc>
              <a:spcBef>
                <a:spcPts val="18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multiplicar y dividir números enteros (con y sin signo)</a:t>
            </a:r>
          </a:p>
          <a:p>
            <a:pPr>
              <a:lnSpc>
                <a:spcPct val="125000"/>
              </a:lnSpc>
              <a:spcBef>
                <a:spcPts val="18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procesar todos los elementos de un arreglo de números enteros:</a:t>
            </a:r>
          </a:p>
          <a:p>
            <a:pPr lvl="1">
              <a:lnSpc>
                <a:spcPct val="125000"/>
              </a:lnSpc>
              <a:spcBef>
                <a:spcPts val="18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p.ej., aplicarle la misma operación a cada número</a:t>
            </a:r>
          </a:p>
          <a:p>
            <a:pPr marL="763588" lvl="1" indent="0">
              <a:lnSpc>
                <a:spcPct val="125000"/>
              </a:lnSpc>
              <a:spcBef>
                <a:spcPts val="1800"/>
              </a:spcBef>
              <a:buFont typeface="Arial" panose="020B0604020202020204" pitchFamily="34" charset="0"/>
              <a:buNone/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… o sumar todos los números entre sí</a:t>
            </a:r>
          </a:p>
          <a:p>
            <a:pPr>
              <a:lnSpc>
                <a:spcPct val="125000"/>
              </a:lnSpc>
              <a:spcBef>
                <a:spcPts val="3000"/>
              </a:spcBef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Cada uno de estos programas se puede escribir de varias maneras:</a:t>
            </a:r>
          </a:p>
          <a:p>
            <a:pPr lvl="1">
              <a:lnSpc>
                <a:spcPct val="125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tal como ocurre al escribir programas en un lenguaje de programación de alto nivel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B4E967-9701-F248-81BE-C22F7EA2E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478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46D3E7-B308-9642-8E5A-17D438DD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1213" y="143758"/>
            <a:ext cx="6697753" cy="6570483"/>
          </a:xfrm>
          <a:prstGeom prst="flowChartDocumen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DATA: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		15 		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—multiplicando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		7</a:t>
            </a:r>
            <a:r>
              <a:rPr lang="en-US" altLang="en-US">
                <a:solidFill>
                  <a:schemeClr val="tx1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   		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—multiplicador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prod	   	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—producto, no inicializado</a:t>
            </a:r>
            <a:endParaRPr lang="en-US" altLang="en-US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endParaRPr lang="en-US" altLang="en-US" b="1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CODE: 		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—multiplicación, sin signo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A,0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(prod),A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—inicializamos 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prod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= 0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B,0 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va a ser el contador de repeticiones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A,(b)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= número de repeticiones (multiplicador)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loop:	CMP A,B 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—comparamos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JEQ end 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—si son iguales, terminamos (saltamos a 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)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A,(a)</a:t>
            </a:r>
            <a:r>
              <a:rPr lang="en-US" altLang="en-US">
                <a:solidFill>
                  <a:schemeClr val="tx1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—tomamos el multiplicando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ADD A,(prod)</a:t>
            </a:r>
            <a:r>
              <a:rPr lang="en-US" altLang="en-US">
                <a:solidFill>
                  <a:schemeClr val="tx1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—se lo sumamos una vez más a 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prod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(prod),A</a:t>
            </a:r>
            <a:r>
              <a:rPr lang="en-US" altLang="en-US">
                <a:solidFill>
                  <a:schemeClr val="tx1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—y actualizamos el valor de 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prod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INC B</a:t>
            </a:r>
            <a:r>
              <a:rPr lang="en-US" altLang="en-US">
                <a:solidFill>
                  <a:schemeClr val="tx1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          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—incrementamos el contador de repeticiones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A,(b)</a:t>
            </a:r>
            <a:r>
              <a:rPr lang="en-US" altLang="en-US">
                <a:solidFill>
                  <a:schemeClr val="tx1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= número de repeticiones (multiplicador)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JMP loop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—repetimos el ciclo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end: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E982A7-08C0-0743-B01A-B383A1BA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40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B70A0-F933-A7A8-F767-B366A8F1E228}"/>
              </a:ext>
            </a:extLst>
          </p:cNvPr>
          <p:cNvSpPr txBox="1"/>
          <p:nvPr/>
        </p:nvSpPr>
        <p:spPr>
          <a:xfrm>
            <a:off x="636310" y="265733"/>
            <a:ext cx="4194927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Multiplicación de dos números no negativos por la vía de sumar repetidamente el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multiplicando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tantas veces como lo indica el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multiplicador</a:t>
            </a:r>
            <a:endParaRPr lang="en-CL" sz="1600" i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8669C7-6EE3-EF7B-B44C-E2DAE089950C}"/>
              </a:ext>
            </a:extLst>
          </p:cNvPr>
          <p:cNvSpPr txBox="1"/>
          <p:nvPr/>
        </p:nvSpPr>
        <p:spPr>
          <a:xfrm>
            <a:off x="683444" y="1709962"/>
            <a:ext cx="4100660" cy="20467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Clr>
                <a:srgbClr val="FF0000"/>
              </a:buClr>
            </a:pPr>
            <a:r>
              <a:rPr lang="en-US" altLang="en-US" sz="1600" b="1">
                <a:solidFill>
                  <a:srgbClr val="FF000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Primero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se inicializa en 0 la variable </a:t>
            </a:r>
            <a:r>
              <a:rPr lang="en-US" altLang="en-US" sz="16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prod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que va a almacenar el resultado de la multiplicación:</a:t>
            </a:r>
          </a:p>
          <a:p>
            <a:pPr marL="285750" indent="-193675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no hay una instrucción para asignar directamente el literal 0 a una variable</a:t>
            </a:r>
          </a:p>
          <a:p>
            <a:pPr marL="285750" indent="-193675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  <a:sym typeface="Wingdings" pitchFamily="2" charset="2"/>
              </a:rPr>
              <a:t>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primero el registro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es cargado con 0</a:t>
            </a:r>
          </a:p>
          <a:p>
            <a:pPr marL="315913">
              <a:spcBef>
                <a:spcPts val="600"/>
              </a:spcBef>
              <a:buClr>
                <a:srgbClr val="FF0000"/>
              </a:buClr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… y luego el contenido de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es almacenado en </a:t>
            </a:r>
            <a:r>
              <a:rPr lang="en-US" altLang="en-US" sz="16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prod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411CD-76CB-F772-F213-A85ADFC36FBB}"/>
              </a:ext>
            </a:extLst>
          </p:cNvPr>
          <p:cNvSpPr txBox="1"/>
          <p:nvPr/>
        </p:nvSpPr>
        <p:spPr>
          <a:xfrm>
            <a:off x="553825" y="4356659"/>
            <a:ext cx="4359898" cy="2031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Clr>
                <a:srgbClr val="FF0000"/>
              </a:buClr>
            </a:pPr>
            <a:r>
              <a:rPr lang="en-US" altLang="en-US" sz="1600" b="1">
                <a:solidFill>
                  <a:srgbClr val="0070C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Luego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el registro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B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es cargado con 0 —representa, a lo largo de todo el programa, el número de repeticiones realizadas</a:t>
            </a:r>
          </a:p>
          <a:p>
            <a:pPr>
              <a:spcBef>
                <a:spcPts val="600"/>
              </a:spcBef>
              <a:buClr>
                <a:srgbClr val="FF0000"/>
              </a:buClr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… y el registro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con el valor del multiplicador —el número de repeticiones que hay que realizar:</a:t>
            </a:r>
          </a:p>
          <a:p>
            <a:pPr marL="285750" indent="-193675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el registro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 toma diferentes roles a lo largo del programa, a diferencia del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B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1635CA5D-C102-5573-68E5-542436C57196}"/>
              </a:ext>
            </a:extLst>
          </p:cNvPr>
          <p:cNvSpPr/>
          <p:nvPr/>
        </p:nvSpPr>
        <p:spPr>
          <a:xfrm>
            <a:off x="5392132" y="1819375"/>
            <a:ext cx="273377" cy="509048"/>
          </a:xfrm>
          <a:prstGeom prst="leftBrace">
            <a:avLst>
              <a:gd name="adj1" fmla="val 39368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1EC6BCDA-8898-5504-CE8D-A806D050B774}"/>
              </a:ext>
            </a:extLst>
          </p:cNvPr>
          <p:cNvSpPr/>
          <p:nvPr/>
        </p:nvSpPr>
        <p:spPr>
          <a:xfrm>
            <a:off x="5392132" y="2425139"/>
            <a:ext cx="273377" cy="509048"/>
          </a:xfrm>
          <a:prstGeom prst="leftBrace">
            <a:avLst>
              <a:gd name="adj1" fmla="val 39368"/>
              <a:gd name="adj2" fmla="val 50000"/>
            </a:avLst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065289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46D3E7-B308-9642-8E5A-17D438DD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1213" y="143758"/>
            <a:ext cx="6697753" cy="6570483"/>
          </a:xfrm>
          <a:prstGeom prst="flowChartDocumen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DATA: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		15 		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—multiplicando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		7</a:t>
            </a:r>
            <a:r>
              <a:rPr lang="en-US" altLang="en-US">
                <a:solidFill>
                  <a:schemeClr val="tx1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   		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—multiplicador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prod	   	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—producto, no inicializado</a:t>
            </a:r>
            <a:endParaRPr lang="en-US" altLang="en-US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endParaRPr lang="en-US" altLang="en-US" b="1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CODE: 		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—multiplicación, sin signo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A,0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(prod),A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—inicializamos 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prod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= 0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B,0 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va a ser el contador de repeticiones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A,(b)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= número de repeticiones (multiplicador)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loop:	CMP A,B 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—comparamos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JEQ end 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—si son iguales, terminamos (saltamos a 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)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A,(a)</a:t>
            </a:r>
            <a:r>
              <a:rPr lang="en-US" altLang="en-US">
                <a:solidFill>
                  <a:schemeClr val="tx1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—tomamos el multiplicando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ADD A,(prod)</a:t>
            </a:r>
            <a:r>
              <a:rPr lang="en-US" altLang="en-US">
                <a:solidFill>
                  <a:schemeClr val="tx1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—se lo sumamos una vez más a 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prod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(prod),A</a:t>
            </a:r>
            <a:r>
              <a:rPr lang="en-US" altLang="en-US">
                <a:solidFill>
                  <a:schemeClr val="tx1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—y actualizamos el valor de 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prod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INC B</a:t>
            </a:r>
            <a:r>
              <a:rPr lang="en-US" altLang="en-US">
                <a:solidFill>
                  <a:schemeClr val="tx1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          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—incrementamos el contador de repeticiones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MOV A,(b)</a:t>
            </a:r>
            <a:r>
              <a:rPr lang="en-US" altLang="en-US">
                <a:solidFill>
                  <a:schemeClr val="tx1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</a:t>
            </a:r>
            <a:r>
              <a:rPr lang="en-US" altLang="en-US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 = número de repeticiones (multiplicador)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JMP loop     </a:t>
            </a:r>
            <a:r>
              <a:rPr lang="en-US" altLang="en-US">
                <a:solidFill>
                  <a:srgbClr val="00B050"/>
                </a:solidFill>
                <a:latin typeface="Century Schoolbook" panose="02040604050505020304" pitchFamily="18" charset="0"/>
                <a:cs typeface="Consolas" panose="020B0609020204030204" pitchFamily="49" charset="0"/>
              </a:rPr>
              <a:t>—repetimos el ciclo</a:t>
            </a:r>
            <a:endParaRPr lang="en-US" altLang="en-US" b="1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en-US" altLang="en-US" b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end: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E982A7-08C0-0743-B01A-B383A1BA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CEC5F-5CDF-B34D-BE04-C3EA2AB83D81}" type="slidenum">
              <a:rPr lang="en-US"/>
              <a:pPr/>
              <a:t>41</a:t>
            </a:fld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1635CA5D-C102-5573-68E5-542436C57196}"/>
              </a:ext>
            </a:extLst>
          </p:cNvPr>
          <p:cNvSpPr/>
          <p:nvPr/>
        </p:nvSpPr>
        <p:spPr>
          <a:xfrm>
            <a:off x="5426670" y="2919951"/>
            <a:ext cx="273377" cy="509048"/>
          </a:xfrm>
          <a:prstGeom prst="leftBrace">
            <a:avLst>
              <a:gd name="adj1" fmla="val 39368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1EC6BCDA-8898-5504-CE8D-A806D050B774}"/>
              </a:ext>
            </a:extLst>
          </p:cNvPr>
          <p:cNvSpPr/>
          <p:nvPr/>
        </p:nvSpPr>
        <p:spPr>
          <a:xfrm>
            <a:off x="5442395" y="3509221"/>
            <a:ext cx="273377" cy="1534119"/>
          </a:xfrm>
          <a:prstGeom prst="leftBrace">
            <a:avLst>
              <a:gd name="adj1" fmla="val 39368"/>
              <a:gd name="adj2" fmla="val 50000"/>
            </a:avLst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A1719-C8C5-3DDD-C629-165B518969F5}"/>
              </a:ext>
            </a:extLst>
          </p:cNvPr>
          <p:cNvSpPr txBox="1"/>
          <p:nvPr/>
        </p:nvSpPr>
        <p:spPr>
          <a:xfrm>
            <a:off x="531812" y="1322110"/>
            <a:ext cx="4213782" cy="47243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Ahora comienza el ciclo que se repite (label </a:t>
            </a:r>
            <a:r>
              <a:rPr lang="en-US" altLang="en-US" sz="16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loop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altLang="en-US" sz="1600" b="1">
                <a:solidFill>
                  <a:srgbClr val="FF000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Primero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se compara el número de repeticiones que hay que realizar (registro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 con el número de repeticiones realizadas (registro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B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… si son iguales, entonces el programa termina (</a:t>
            </a:r>
            <a:r>
              <a:rPr lang="en-US" altLang="en-US" sz="16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JEQ end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… </a:t>
            </a:r>
            <a:r>
              <a:rPr lang="en-US" altLang="en-US" sz="1600" b="1">
                <a:solidFill>
                  <a:srgbClr val="0070C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de lo contrario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se ejecuta una repetición —se suma una vez el multiplicando a la variable </a:t>
            </a:r>
            <a:r>
              <a:rPr lang="en-US" altLang="en-US" sz="16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prod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:</a:t>
            </a:r>
          </a:p>
          <a:p>
            <a:pPr marL="285750" indent="-193675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se carga el multiplicando en el registro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se le suma lo que ya está acumulado en la variable </a:t>
            </a:r>
            <a:r>
              <a:rPr lang="en-US" altLang="en-US" sz="16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prod</a:t>
            </a: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, y con el resultado se actualiza la variable </a:t>
            </a:r>
            <a:r>
              <a:rPr lang="en-US" altLang="en-US" sz="1600" b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prod</a:t>
            </a:r>
          </a:p>
          <a:p>
            <a:pPr marL="285750" indent="-193675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se incrementa el contador de repeticiones —el registro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B</a:t>
            </a:r>
          </a:p>
          <a:p>
            <a:pPr marL="285750" indent="-193675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se carga el multiplicador en el registro </a:t>
            </a:r>
            <a:r>
              <a:rPr lang="en-US" altLang="en-US" sz="1600" i="1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A</a:t>
            </a:r>
          </a:p>
          <a:p>
            <a:pPr marL="285750" indent="-193675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rgbClr val="002060"/>
                </a:solidFill>
                <a:latin typeface="Calibri Light" panose="020F0302020204030204" pitchFamily="34" charset="0"/>
                <a:ea typeface="ＭＳ Ｐゴシック" panose="020B0600070205080204" pitchFamily="34" charset="-128"/>
                <a:cs typeface="Calibri Light" panose="020F0302020204030204" pitchFamily="34" charset="0"/>
              </a:rPr>
              <a:t>… y se inicia una nueva repetición</a:t>
            </a:r>
          </a:p>
        </p:txBody>
      </p:sp>
    </p:spTree>
    <p:extLst>
      <p:ext uri="{BB962C8B-B14F-4D97-AF65-F5344CB8AC3E}">
        <p14:creationId xmlns:p14="http://schemas.microsoft.com/office/powerpoint/2010/main" val="16694243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37412</TotalTime>
  <Words>3496</Words>
  <Application>Microsoft Macintosh PowerPoint</Application>
  <PresentationFormat>Widescreen</PresentationFormat>
  <Paragraphs>336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Century Gothic</vt:lpstr>
      <vt:lpstr>Century Schoolbook</vt:lpstr>
      <vt:lpstr>Consolas</vt:lpstr>
      <vt:lpstr>Wingdings 3</vt:lpstr>
      <vt:lpstr>Wisp</vt:lpstr>
      <vt:lpstr>El procesador continuación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Yadran</dc:creator>
  <cp:lastModifiedBy>Yadran Francisco Eterovic Solano</cp:lastModifiedBy>
  <cp:revision>514</cp:revision>
  <cp:lastPrinted>2024-04-07T19:37:50Z</cp:lastPrinted>
  <dcterms:created xsi:type="dcterms:W3CDTF">2021-12-18T19:40:31Z</dcterms:created>
  <dcterms:modified xsi:type="dcterms:W3CDTF">2025-08-28T13:04:31Z</dcterms:modified>
</cp:coreProperties>
</file>